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  <p:sldMasterId id="2147483720" r:id="rId2"/>
  </p:sldMasterIdLst>
  <p:notesMasterIdLst>
    <p:notesMasterId r:id="rId62"/>
  </p:notesMasterIdLst>
  <p:handoutMasterIdLst>
    <p:handoutMasterId r:id="rId63"/>
  </p:handoutMasterIdLst>
  <p:sldIdLst>
    <p:sldId id="351" r:id="rId3"/>
    <p:sldId id="281" r:id="rId4"/>
    <p:sldId id="282" r:id="rId5"/>
    <p:sldId id="287" r:id="rId6"/>
    <p:sldId id="259" r:id="rId7"/>
    <p:sldId id="310" r:id="rId8"/>
    <p:sldId id="261" r:id="rId9"/>
    <p:sldId id="353" r:id="rId10"/>
    <p:sldId id="302" r:id="rId11"/>
    <p:sldId id="382" r:id="rId12"/>
    <p:sldId id="303" r:id="rId13"/>
    <p:sldId id="333" r:id="rId14"/>
    <p:sldId id="304" r:id="rId15"/>
    <p:sldId id="270" r:id="rId16"/>
    <p:sldId id="340" r:id="rId17"/>
    <p:sldId id="335" r:id="rId18"/>
    <p:sldId id="336" r:id="rId19"/>
    <p:sldId id="346" r:id="rId20"/>
    <p:sldId id="358" r:id="rId21"/>
    <p:sldId id="365" r:id="rId22"/>
    <p:sldId id="369" r:id="rId23"/>
    <p:sldId id="356" r:id="rId24"/>
    <p:sldId id="295" r:id="rId25"/>
    <p:sldId id="296" r:id="rId26"/>
    <p:sldId id="297" r:id="rId27"/>
    <p:sldId id="298" r:id="rId28"/>
    <p:sldId id="299" r:id="rId29"/>
    <p:sldId id="399" r:id="rId30"/>
    <p:sldId id="257" r:id="rId31"/>
    <p:sldId id="321" r:id="rId32"/>
    <p:sldId id="320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2" r:id="rId41"/>
    <p:sldId id="323" r:id="rId42"/>
    <p:sldId id="331" r:id="rId43"/>
    <p:sldId id="400" r:id="rId44"/>
    <p:sldId id="341" r:id="rId45"/>
    <p:sldId id="342" r:id="rId46"/>
    <p:sldId id="343" r:id="rId47"/>
    <p:sldId id="344" r:id="rId48"/>
    <p:sldId id="345" r:id="rId49"/>
    <p:sldId id="401" r:id="rId50"/>
    <p:sldId id="402" r:id="rId51"/>
    <p:sldId id="347" r:id="rId52"/>
    <p:sldId id="334" r:id="rId53"/>
    <p:sldId id="348" r:id="rId54"/>
    <p:sldId id="349" r:id="rId55"/>
    <p:sldId id="350" r:id="rId56"/>
    <p:sldId id="403" r:id="rId57"/>
    <p:sldId id="404" r:id="rId58"/>
    <p:sldId id="337" r:id="rId59"/>
    <p:sldId id="338" r:id="rId60"/>
    <p:sldId id="405" r:id="rId6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7A2B37-0E0E-45D1-9210-BF16AC53D980}" v="1" dt="2024-11-05T07:05:25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za Çekirdek" userId="20e08c646aee7875" providerId="LiveId" clId="{787A2B37-0E0E-45D1-9210-BF16AC53D980}"/>
    <pc:docChg chg="undo custSel addSld delSld modSld sldOrd">
      <pc:chgData name="Hamza Çekirdek" userId="20e08c646aee7875" providerId="LiveId" clId="{787A2B37-0E0E-45D1-9210-BF16AC53D980}" dt="2024-11-05T07:03:18.821" v="60" actId="47"/>
      <pc:docMkLst>
        <pc:docMk/>
      </pc:docMkLst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0" sldId="256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0" sldId="257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0" sldId="258"/>
        </pc:sldMkLst>
      </pc:sldChg>
      <pc:sldChg chg="del">
        <pc:chgData name="Hamza Çekirdek" userId="20e08c646aee7875" providerId="LiveId" clId="{787A2B37-0E0E-45D1-9210-BF16AC53D980}" dt="2024-11-05T06:44:04.783" v="6" actId="47"/>
        <pc:sldMkLst>
          <pc:docMk/>
          <pc:sldMk cId="0" sldId="260"/>
        </pc:sldMkLst>
      </pc:sldChg>
      <pc:sldChg chg="del">
        <pc:chgData name="Hamza Çekirdek" userId="20e08c646aee7875" providerId="LiveId" clId="{787A2B37-0E0E-45D1-9210-BF16AC53D980}" dt="2024-11-05T06:45:06.707" v="10" actId="47"/>
        <pc:sldMkLst>
          <pc:docMk/>
          <pc:sldMk cId="0" sldId="269"/>
        </pc:sldMkLst>
      </pc:sldChg>
      <pc:sldChg chg="ord">
        <pc:chgData name="Hamza Çekirdek" userId="20e08c646aee7875" providerId="LiveId" clId="{787A2B37-0E0E-45D1-9210-BF16AC53D980}" dt="2024-11-05T06:45:54.183" v="12"/>
        <pc:sldMkLst>
          <pc:docMk/>
          <pc:sldMk cId="0" sldId="270"/>
        </pc:sldMkLst>
      </pc:sldChg>
      <pc:sldChg chg="del">
        <pc:chgData name="Hamza Çekirdek" userId="20e08c646aee7875" providerId="LiveId" clId="{787A2B37-0E0E-45D1-9210-BF16AC53D980}" dt="2024-11-05T07:00:49.864" v="56" actId="47"/>
        <pc:sldMkLst>
          <pc:docMk/>
          <pc:sldMk cId="0" sldId="274"/>
        </pc:sldMkLst>
      </pc:sldChg>
      <pc:sldChg chg="del">
        <pc:chgData name="Hamza Çekirdek" userId="20e08c646aee7875" providerId="LiveId" clId="{787A2B37-0E0E-45D1-9210-BF16AC53D980}" dt="2024-11-05T07:00:43.345" v="53" actId="47"/>
        <pc:sldMkLst>
          <pc:docMk/>
          <pc:sldMk cId="0" sldId="275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0" sldId="276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0" sldId="277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0" sldId="278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0" sldId="279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0" sldId="280"/>
        </pc:sldMkLst>
      </pc:sldChg>
      <pc:sldChg chg="modSp mod">
        <pc:chgData name="Hamza Çekirdek" userId="20e08c646aee7875" providerId="LiveId" clId="{787A2B37-0E0E-45D1-9210-BF16AC53D980}" dt="2024-11-05T06:42:58.988" v="2" actId="20577"/>
        <pc:sldMkLst>
          <pc:docMk/>
          <pc:sldMk cId="0" sldId="281"/>
        </pc:sldMkLst>
        <pc:spChg chg="mod">
          <ac:chgData name="Hamza Çekirdek" userId="20e08c646aee7875" providerId="LiveId" clId="{787A2B37-0E0E-45D1-9210-BF16AC53D980}" dt="2024-11-05T06:42:58.988" v="2" actId="20577"/>
          <ac:spMkLst>
            <pc:docMk/>
            <pc:sldMk cId="0" sldId="281"/>
            <ac:spMk id="34819" creationId="{00000000-0000-0000-0000-000000000000}"/>
          </ac:spMkLst>
        </pc:spChg>
      </pc:sldChg>
      <pc:sldChg chg="del">
        <pc:chgData name="Hamza Çekirdek" userId="20e08c646aee7875" providerId="LiveId" clId="{787A2B37-0E0E-45D1-9210-BF16AC53D980}" dt="2024-11-05T06:42:25.771" v="0" actId="47"/>
        <pc:sldMkLst>
          <pc:docMk/>
          <pc:sldMk cId="0" sldId="283"/>
        </pc:sldMkLst>
      </pc:sldChg>
      <pc:sldChg chg="del">
        <pc:chgData name="Hamza Çekirdek" userId="20e08c646aee7875" providerId="LiveId" clId="{787A2B37-0E0E-45D1-9210-BF16AC53D980}" dt="2024-11-05T06:43:19.999" v="4" actId="47"/>
        <pc:sldMkLst>
          <pc:docMk/>
          <pc:sldMk cId="0" sldId="285"/>
        </pc:sldMkLst>
      </pc:sldChg>
      <pc:sldChg chg="del">
        <pc:chgData name="Hamza Çekirdek" userId="20e08c646aee7875" providerId="LiveId" clId="{787A2B37-0E0E-45D1-9210-BF16AC53D980}" dt="2024-11-05T06:43:14.710" v="3" actId="47"/>
        <pc:sldMkLst>
          <pc:docMk/>
          <pc:sldMk cId="0" sldId="286"/>
        </pc:sldMkLst>
      </pc:sldChg>
      <pc:sldChg chg="del">
        <pc:chgData name="Hamza Çekirdek" userId="20e08c646aee7875" providerId="LiveId" clId="{787A2B37-0E0E-45D1-9210-BF16AC53D980}" dt="2024-11-05T06:43:59.317" v="5" actId="47"/>
        <pc:sldMkLst>
          <pc:docMk/>
          <pc:sldMk cId="0" sldId="288"/>
        </pc:sldMkLst>
      </pc:sldChg>
      <pc:sldChg chg="del">
        <pc:chgData name="Hamza Çekirdek" userId="20e08c646aee7875" providerId="LiveId" clId="{787A2B37-0E0E-45D1-9210-BF16AC53D980}" dt="2024-11-05T06:44:16.789" v="8" actId="47"/>
        <pc:sldMkLst>
          <pc:docMk/>
          <pc:sldMk cId="0" sldId="289"/>
        </pc:sldMkLst>
      </pc:sldChg>
      <pc:sldChg chg="ord">
        <pc:chgData name="Hamza Çekirdek" userId="20e08c646aee7875" providerId="LiveId" clId="{787A2B37-0E0E-45D1-9210-BF16AC53D980}" dt="2024-11-05T06:46:01.442" v="16"/>
        <pc:sldMkLst>
          <pc:docMk/>
          <pc:sldMk cId="0" sldId="304"/>
        </pc:sldMkLst>
      </pc:sldChg>
      <pc:sldChg chg="del">
        <pc:chgData name="Hamza Çekirdek" userId="20e08c646aee7875" providerId="LiveId" clId="{787A2B37-0E0E-45D1-9210-BF16AC53D980}" dt="2024-11-05T07:00:39.008" v="49" actId="47"/>
        <pc:sldMkLst>
          <pc:docMk/>
          <pc:sldMk cId="0" sldId="309"/>
        </pc:sldMkLst>
      </pc:sldChg>
      <pc:sldChg chg="del">
        <pc:chgData name="Hamza Çekirdek" userId="20e08c646aee7875" providerId="LiveId" clId="{787A2B37-0E0E-45D1-9210-BF16AC53D980}" dt="2024-11-05T06:44:14.798" v="7" actId="47"/>
        <pc:sldMkLst>
          <pc:docMk/>
          <pc:sldMk cId="0" sldId="311"/>
        </pc:sldMkLst>
      </pc:sldChg>
      <pc:sldChg chg="del">
        <pc:chgData name="Hamza Çekirdek" userId="20e08c646aee7875" providerId="LiveId" clId="{787A2B37-0E0E-45D1-9210-BF16AC53D980}" dt="2024-11-05T06:47:32.719" v="17" actId="47"/>
        <pc:sldMkLst>
          <pc:docMk/>
          <pc:sldMk cId="0" sldId="345"/>
        </pc:sldMkLst>
      </pc:sldChg>
      <pc:sldChg chg="del">
        <pc:chgData name="Hamza Çekirdek" userId="20e08c646aee7875" providerId="LiveId" clId="{787A2B37-0E0E-45D1-9210-BF16AC53D980}" dt="2024-11-05T07:00:53.934" v="58" actId="47"/>
        <pc:sldMkLst>
          <pc:docMk/>
          <pc:sldMk cId="0" sldId="347"/>
        </pc:sldMkLst>
      </pc:sldChg>
      <pc:sldChg chg="del">
        <pc:chgData name="Hamza Çekirdek" userId="20e08c646aee7875" providerId="LiveId" clId="{787A2B37-0E0E-45D1-9210-BF16AC53D980}" dt="2024-11-05T07:00:52.462" v="57" actId="47"/>
        <pc:sldMkLst>
          <pc:docMk/>
          <pc:sldMk cId="0" sldId="348"/>
        </pc:sldMkLst>
      </pc:sldChg>
      <pc:sldChg chg="del">
        <pc:chgData name="Hamza Çekirdek" userId="20e08c646aee7875" providerId="LiveId" clId="{787A2B37-0E0E-45D1-9210-BF16AC53D980}" dt="2024-11-05T07:00:45.379" v="55" actId="47"/>
        <pc:sldMkLst>
          <pc:docMk/>
          <pc:sldMk cId="0" sldId="349"/>
        </pc:sldMkLst>
      </pc:sldChg>
      <pc:sldChg chg="del">
        <pc:chgData name="Hamza Çekirdek" userId="20e08c646aee7875" providerId="LiveId" clId="{787A2B37-0E0E-45D1-9210-BF16AC53D980}" dt="2024-11-05T07:00:44.059" v="54" actId="47"/>
        <pc:sldMkLst>
          <pc:docMk/>
          <pc:sldMk cId="0" sldId="350"/>
        </pc:sldMkLst>
      </pc:sldChg>
      <pc:sldChg chg="del">
        <pc:chgData name="Hamza Çekirdek" userId="20e08c646aee7875" providerId="LiveId" clId="{787A2B37-0E0E-45D1-9210-BF16AC53D980}" dt="2024-11-05T07:00:41.791" v="52" actId="47"/>
        <pc:sldMkLst>
          <pc:docMk/>
          <pc:sldMk cId="2551034023" sldId="352"/>
        </pc:sldMkLst>
      </pc:sldChg>
      <pc:sldChg chg="del">
        <pc:chgData name="Hamza Çekirdek" userId="20e08c646aee7875" providerId="LiveId" clId="{787A2B37-0E0E-45D1-9210-BF16AC53D980}" dt="2024-11-05T07:00:41.121" v="51" actId="47"/>
        <pc:sldMkLst>
          <pc:docMk/>
          <pc:sldMk cId="3452821670" sldId="354"/>
        </pc:sldMkLst>
      </pc:sldChg>
      <pc:sldChg chg="del">
        <pc:chgData name="Hamza Çekirdek" userId="20e08c646aee7875" providerId="LiveId" clId="{787A2B37-0E0E-45D1-9210-BF16AC53D980}" dt="2024-11-05T07:00:56.247" v="59" actId="47"/>
        <pc:sldMkLst>
          <pc:docMk/>
          <pc:sldMk cId="3606619586" sldId="355"/>
        </pc:sldMkLst>
      </pc:sldChg>
      <pc:sldChg chg="del">
        <pc:chgData name="Hamza Çekirdek" userId="20e08c646aee7875" providerId="LiveId" clId="{787A2B37-0E0E-45D1-9210-BF16AC53D980}" dt="2024-11-05T06:44:53.559" v="9" actId="47"/>
        <pc:sldMkLst>
          <pc:docMk/>
          <pc:sldMk cId="1569010017" sldId="357"/>
        </pc:sldMkLst>
      </pc:sldChg>
      <pc:sldChg chg="modSp mod">
        <pc:chgData name="Hamza Çekirdek" userId="20e08c646aee7875" providerId="LiveId" clId="{787A2B37-0E0E-45D1-9210-BF16AC53D980}" dt="2024-11-05T06:48:18.716" v="27" actId="20577"/>
        <pc:sldMkLst>
          <pc:docMk/>
          <pc:sldMk cId="1673504293" sldId="365"/>
        </pc:sldMkLst>
        <pc:spChg chg="mod">
          <ac:chgData name="Hamza Çekirdek" userId="20e08c646aee7875" providerId="LiveId" clId="{787A2B37-0E0E-45D1-9210-BF16AC53D980}" dt="2024-11-05T06:48:18.716" v="27" actId="20577"/>
          <ac:spMkLst>
            <pc:docMk/>
            <pc:sldMk cId="1673504293" sldId="365"/>
            <ac:spMk id="3" creationId="{00000000-0000-0000-0000-000000000000}"/>
          </ac:spMkLst>
        </pc:spChg>
      </pc:sldChg>
      <pc:sldChg chg="add del">
        <pc:chgData name="Hamza Çekirdek" userId="20e08c646aee7875" providerId="LiveId" clId="{787A2B37-0E0E-45D1-9210-BF16AC53D980}" dt="2024-11-05T06:53:05.752" v="32" actId="47"/>
        <pc:sldMkLst>
          <pc:docMk/>
          <pc:sldMk cId="871056423" sldId="366"/>
        </pc:sldMkLst>
      </pc:sldChg>
      <pc:sldChg chg="del">
        <pc:chgData name="Hamza Çekirdek" userId="20e08c646aee7875" providerId="LiveId" clId="{787A2B37-0E0E-45D1-9210-BF16AC53D980}" dt="2024-11-05T06:53:07.751" v="33" actId="47"/>
        <pc:sldMkLst>
          <pc:docMk/>
          <pc:sldMk cId="2042262479" sldId="367"/>
        </pc:sldMkLst>
      </pc:sldChg>
      <pc:sldChg chg="del">
        <pc:chgData name="Hamza Çekirdek" userId="20e08c646aee7875" providerId="LiveId" clId="{787A2B37-0E0E-45D1-9210-BF16AC53D980}" dt="2024-11-05T06:53:09.137" v="34" actId="47"/>
        <pc:sldMkLst>
          <pc:docMk/>
          <pc:sldMk cId="1726076218" sldId="368"/>
        </pc:sldMkLst>
      </pc:sldChg>
      <pc:sldChg chg="del">
        <pc:chgData name="Hamza Çekirdek" userId="20e08c646aee7875" providerId="LiveId" clId="{787A2B37-0E0E-45D1-9210-BF16AC53D980}" dt="2024-11-05T06:53:14.007" v="35" actId="47"/>
        <pc:sldMkLst>
          <pc:docMk/>
          <pc:sldMk cId="1186723185" sldId="370"/>
        </pc:sldMkLst>
      </pc:sldChg>
      <pc:sldChg chg="del">
        <pc:chgData name="Hamza Çekirdek" userId="20e08c646aee7875" providerId="LiveId" clId="{787A2B37-0E0E-45D1-9210-BF16AC53D980}" dt="2024-11-05T06:49:07.322" v="30" actId="47"/>
        <pc:sldMkLst>
          <pc:docMk/>
          <pc:sldMk cId="598877174" sldId="371"/>
        </pc:sldMkLst>
      </pc:sldChg>
      <pc:sldChg chg="del">
        <pc:chgData name="Hamza Çekirdek" userId="20e08c646aee7875" providerId="LiveId" clId="{787A2B37-0E0E-45D1-9210-BF16AC53D980}" dt="2024-11-05T06:54:13.263" v="41" actId="47"/>
        <pc:sldMkLst>
          <pc:docMk/>
          <pc:sldMk cId="830475239" sldId="372"/>
        </pc:sldMkLst>
      </pc:sldChg>
      <pc:sldChg chg="del">
        <pc:chgData name="Hamza Çekirdek" userId="20e08c646aee7875" providerId="LiveId" clId="{787A2B37-0E0E-45D1-9210-BF16AC53D980}" dt="2024-11-05T06:54:08.037" v="40" actId="47"/>
        <pc:sldMkLst>
          <pc:docMk/>
          <pc:sldMk cId="2423206850" sldId="373"/>
        </pc:sldMkLst>
      </pc:sldChg>
      <pc:sldChg chg="del">
        <pc:chgData name="Hamza Çekirdek" userId="20e08c646aee7875" providerId="LiveId" clId="{787A2B37-0E0E-45D1-9210-BF16AC53D980}" dt="2024-11-05T06:53:50.398" v="36" actId="47"/>
        <pc:sldMkLst>
          <pc:docMk/>
          <pc:sldMk cId="577089289" sldId="374"/>
        </pc:sldMkLst>
      </pc:sldChg>
      <pc:sldChg chg="del">
        <pc:chgData name="Hamza Çekirdek" userId="20e08c646aee7875" providerId="LiveId" clId="{787A2B37-0E0E-45D1-9210-BF16AC53D980}" dt="2024-11-05T06:53:51.641" v="37" actId="47"/>
        <pc:sldMkLst>
          <pc:docMk/>
          <pc:sldMk cId="1240694350" sldId="375"/>
        </pc:sldMkLst>
      </pc:sldChg>
      <pc:sldChg chg="del">
        <pc:chgData name="Hamza Çekirdek" userId="20e08c646aee7875" providerId="LiveId" clId="{787A2B37-0E0E-45D1-9210-BF16AC53D980}" dt="2024-11-05T06:53:53.311" v="38" actId="47"/>
        <pc:sldMkLst>
          <pc:docMk/>
          <pc:sldMk cId="2030395543" sldId="376"/>
        </pc:sldMkLst>
      </pc:sldChg>
      <pc:sldChg chg="del">
        <pc:chgData name="Hamza Çekirdek" userId="20e08c646aee7875" providerId="LiveId" clId="{787A2B37-0E0E-45D1-9210-BF16AC53D980}" dt="2024-11-05T06:53:54.139" v="39" actId="47"/>
        <pc:sldMkLst>
          <pc:docMk/>
          <pc:sldMk cId="3532808645" sldId="377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1670292469" sldId="378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2453475377" sldId="379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3743196010" sldId="380"/>
        </pc:sldMkLst>
      </pc:sldChg>
      <pc:sldChg chg="del">
        <pc:chgData name="Hamza Çekirdek" userId="20e08c646aee7875" providerId="LiveId" clId="{787A2B37-0E0E-45D1-9210-BF16AC53D980}" dt="2024-11-05T06:42:49.892" v="1" actId="47"/>
        <pc:sldMkLst>
          <pc:docMk/>
          <pc:sldMk cId="3036408685" sldId="381"/>
        </pc:sldMkLst>
      </pc:sldChg>
      <pc:sldChg chg="del">
        <pc:chgData name="Hamza Çekirdek" userId="20e08c646aee7875" providerId="LiveId" clId="{787A2B37-0E0E-45D1-9210-BF16AC53D980}" dt="2024-11-05T06:52:37.828" v="31" actId="2696"/>
        <pc:sldMkLst>
          <pc:docMk/>
          <pc:sldMk cId="501127493" sldId="383"/>
        </pc:sldMkLst>
      </pc:sldChg>
      <pc:sldChg chg="del">
        <pc:chgData name="Hamza Çekirdek" userId="20e08c646aee7875" providerId="LiveId" clId="{787A2B37-0E0E-45D1-9210-BF16AC53D980}" dt="2024-11-05T06:47:40.153" v="18" actId="47"/>
        <pc:sldMkLst>
          <pc:docMk/>
          <pc:sldMk cId="3891492961" sldId="384"/>
        </pc:sldMkLst>
      </pc:sldChg>
      <pc:sldChg chg="del">
        <pc:chgData name="Hamza Çekirdek" userId="20e08c646aee7875" providerId="LiveId" clId="{787A2B37-0E0E-45D1-9210-BF16AC53D980}" dt="2024-11-05T06:47:41.485" v="19" actId="47"/>
        <pc:sldMkLst>
          <pc:docMk/>
          <pc:sldMk cId="2107369606" sldId="385"/>
        </pc:sldMkLst>
      </pc:sldChg>
      <pc:sldChg chg="del">
        <pc:chgData name="Hamza Çekirdek" userId="20e08c646aee7875" providerId="LiveId" clId="{787A2B37-0E0E-45D1-9210-BF16AC53D980}" dt="2024-11-05T06:47:42.358" v="20" actId="47"/>
        <pc:sldMkLst>
          <pc:docMk/>
          <pc:sldMk cId="3371123536" sldId="386"/>
        </pc:sldMkLst>
      </pc:sldChg>
      <pc:sldChg chg="del">
        <pc:chgData name="Hamza Çekirdek" userId="20e08c646aee7875" providerId="LiveId" clId="{787A2B37-0E0E-45D1-9210-BF16AC53D980}" dt="2024-11-05T06:47:44.911" v="21" actId="47"/>
        <pc:sldMkLst>
          <pc:docMk/>
          <pc:sldMk cId="2911646379" sldId="387"/>
        </pc:sldMkLst>
      </pc:sldChg>
      <pc:sldChg chg="del">
        <pc:chgData name="Hamza Çekirdek" userId="20e08c646aee7875" providerId="LiveId" clId="{787A2B37-0E0E-45D1-9210-BF16AC53D980}" dt="2024-11-05T06:54:20.091" v="42" actId="47"/>
        <pc:sldMkLst>
          <pc:docMk/>
          <pc:sldMk cId="1477966070" sldId="388"/>
        </pc:sldMkLst>
      </pc:sldChg>
      <pc:sldChg chg="del">
        <pc:chgData name="Hamza Çekirdek" userId="20e08c646aee7875" providerId="LiveId" clId="{787A2B37-0E0E-45D1-9210-BF16AC53D980}" dt="2024-11-05T06:54:21.312" v="43" actId="47"/>
        <pc:sldMkLst>
          <pc:docMk/>
          <pc:sldMk cId="3002223797" sldId="389"/>
        </pc:sldMkLst>
      </pc:sldChg>
      <pc:sldChg chg="del">
        <pc:chgData name="Hamza Çekirdek" userId="20e08c646aee7875" providerId="LiveId" clId="{787A2B37-0E0E-45D1-9210-BF16AC53D980}" dt="2024-11-05T06:54:31.459" v="44" actId="47"/>
        <pc:sldMkLst>
          <pc:docMk/>
          <pc:sldMk cId="3604491601" sldId="390"/>
        </pc:sldMkLst>
      </pc:sldChg>
      <pc:sldChg chg="del">
        <pc:chgData name="Hamza Çekirdek" userId="20e08c646aee7875" providerId="LiveId" clId="{787A2B37-0E0E-45D1-9210-BF16AC53D980}" dt="2024-11-05T06:54:32.773" v="45" actId="47"/>
        <pc:sldMkLst>
          <pc:docMk/>
          <pc:sldMk cId="74181069" sldId="391"/>
        </pc:sldMkLst>
      </pc:sldChg>
      <pc:sldChg chg="del">
        <pc:chgData name="Hamza Çekirdek" userId="20e08c646aee7875" providerId="LiveId" clId="{787A2B37-0E0E-45D1-9210-BF16AC53D980}" dt="2024-11-05T06:54:36.067" v="46" actId="47"/>
        <pc:sldMkLst>
          <pc:docMk/>
          <pc:sldMk cId="3902827572" sldId="392"/>
        </pc:sldMkLst>
      </pc:sldChg>
      <pc:sldChg chg="del">
        <pc:chgData name="Hamza Çekirdek" userId="20e08c646aee7875" providerId="LiveId" clId="{787A2B37-0E0E-45D1-9210-BF16AC53D980}" dt="2024-11-05T06:54:38.355" v="47" actId="47"/>
        <pc:sldMkLst>
          <pc:docMk/>
          <pc:sldMk cId="152194109" sldId="393"/>
        </pc:sldMkLst>
      </pc:sldChg>
      <pc:sldChg chg="del">
        <pc:chgData name="Hamza Çekirdek" userId="20e08c646aee7875" providerId="LiveId" clId="{787A2B37-0E0E-45D1-9210-BF16AC53D980}" dt="2024-11-05T06:54:39.218" v="48" actId="47"/>
        <pc:sldMkLst>
          <pc:docMk/>
          <pc:sldMk cId="226900112" sldId="394"/>
        </pc:sldMkLst>
      </pc:sldChg>
      <pc:sldChg chg="del">
        <pc:chgData name="Hamza Çekirdek" userId="20e08c646aee7875" providerId="LiveId" clId="{787A2B37-0E0E-45D1-9210-BF16AC53D980}" dt="2024-11-05T07:03:18.821" v="60" actId="47"/>
        <pc:sldMkLst>
          <pc:docMk/>
          <pc:sldMk cId="2531927789" sldId="395"/>
        </pc:sldMkLst>
      </pc:sldChg>
      <pc:sldChg chg="del">
        <pc:chgData name="Hamza Çekirdek" userId="20e08c646aee7875" providerId="LiveId" clId="{787A2B37-0E0E-45D1-9210-BF16AC53D980}" dt="2024-11-05T06:47:53.847" v="23" actId="47"/>
        <pc:sldMkLst>
          <pc:docMk/>
          <pc:sldMk cId="90547053" sldId="396"/>
        </pc:sldMkLst>
      </pc:sldChg>
      <pc:sldChg chg="del">
        <pc:chgData name="Hamza Çekirdek" userId="20e08c646aee7875" providerId="LiveId" clId="{787A2B37-0E0E-45D1-9210-BF16AC53D980}" dt="2024-11-05T06:47:55.148" v="24" actId="47"/>
        <pc:sldMkLst>
          <pc:docMk/>
          <pc:sldMk cId="270165613" sldId="397"/>
        </pc:sldMkLst>
      </pc:sldChg>
      <pc:sldChg chg="del">
        <pc:chgData name="Hamza Çekirdek" userId="20e08c646aee7875" providerId="LiveId" clId="{787A2B37-0E0E-45D1-9210-BF16AC53D980}" dt="2024-11-05T06:47:48.951" v="22" actId="47"/>
        <pc:sldMkLst>
          <pc:docMk/>
          <pc:sldMk cId="672866641" sldId="398"/>
        </pc:sldMkLst>
      </pc:sldChg>
      <pc:sldChg chg="del">
        <pc:chgData name="Hamza Çekirdek" userId="20e08c646aee7875" providerId="LiveId" clId="{787A2B37-0E0E-45D1-9210-BF16AC53D980}" dt="2024-11-05T07:00:40.174" v="50" actId="47"/>
        <pc:sldMkLst>
          <pc:docMk/>
          <pc:sldMk cId="410089195" sldId="4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13E72A6-F1CE-9A44-92E1-BCD7317752E8}" type="datetime1">
              <a:rPr lang="en-US"/>
              <a:pPr>
                <a:defRPr/>
              </a:pPr>
              <a:t>11/5/2024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03440264-03AB-7A44-911E-26A2AEFC1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04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EB352ED9-E653-9A47-B7A3-C5AB53D5C0B6}" type="datetime1">
              <a:rPr lang="en-US"/>
              <a:pPr>
                <a:defRPr/>
              </a:pPr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60DBBD1-181E-744E-89E7-45F0EE4D9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503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4763A-EFD4-7742-8F31-9C2F9300C2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A459C-C1F9-AB4D-8E61-68C53B56A06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B4A4D-A64F-7740-9E0E-188E9BA474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A6009-9928-FF4C-9FC0-9A5BA7AB80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CDB1BE-A08E-2A4A-80F9-ED5208CC274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09BA1-70B4-4A48-A4C4-6DB291E465C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8FB37-48D1-0F43-9835-C4ADFC9E29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5C7A3-6224-2444-BEEE-16F152F7EB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87004-E5E5-6642-9C91-F2E102A03E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17DF0-9E2E-E045-840A-782E3E137E6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C250-1004-4960-A911-7C470BF51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A25C9-A6FC-4A7B-91E2-6C0739113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00D37-B706-43DA-8B45-F79E239F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32B17-61E0-423F-832B-D092C54E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9B7C9-5BA4-40CA-8549-C5911804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02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F2A1A-57B6-4AAB-AC20-05B9F584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95E03-C95F-4618-9927-4990B4B1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B8BA1-2151-41DF-AED4-CA87170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9B6E3-81FD-4ADE-92C3-B64A35FC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26722-F7E1-4933-92EC-DB3D0F5D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53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9239-64A1-4030-AC8E-CB3D5C46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1C83E-1DC9-4244-87BE-E8C75AA50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FC139-CDE8-42FC-BA8C-381B6AD2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A3348-24A1-4D84-8B76-44FDEA26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F913E-9927-4364-85ED-E492BADB6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44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0C36-86E0-4512-8083-219585D1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04445-C193-4DC8-8ADF-11CBBA441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6B785-8D4D-44F0-9184-E4D771921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9E1E9-5ABE-402C-AD47-9367AFC2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251FE-CC11-4165-AB97-DE8716A1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C3F81-EBDD-4402-9072-5139FA20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87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8CE3-4989-4DA6-B466-0264AF75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E8248-CE71-4355-8CC7-12CFA5397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040D3-A118-496C-849F-642F79A24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AAD7E-3136-40B2-99F1-43FB7C8FF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66DC2-59D2-4D2C-82EC-4AA852E4E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BE6C0F-7C1A-4FA8-88AE-3F0A3CCC9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83F03-F03B-45F9-8598-63FE0806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64212-1C39-4FCB-8970-A2BA28CC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99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66A2-2385-44B6-B249-5A9962A0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7B0C5-6DCA-4853-AEA3-F74C6516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332C5-49B0-4973-85C7-61CC73A2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4E62C-63B3-468E-AC5F-EE7C51CD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4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5D2341-4F40-4F68-8395-F082417B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64504-574D-4325-BFD3-3DB8B63E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44D1A-B535-4F7A-B901-481BFE59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27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E71E1-F6D7-42B6-811C-90D48067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D40A8-1695-4618-8606-6E34249A1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B7F49-DC45-4C0E-9281-40322242B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719E6-4861-4C8D-B53D-E809A20E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A1519-28F4-46EA-8B0B-4058ED0FB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28EF3-8445-4115-8698-52DEE247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998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DEBB-97F3-4E34-933E-1D73BDD3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7AD285-3C53-43DB-BF31-3857D128B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4E019-29BC-4DE9-B363-7B9FA9830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367D9-DACA-410F-9B5D-1B6D56551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EA679-3F1B-453D-82E0-9AFC5847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13369-DBD9-4401-84C9-2A4E8A27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664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02D0-A69B-4F81-BBB8-D0F5E7FC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39219-FC45-45D1-9AAA-938DBAF1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CC688-1D0E-4D4A-A064-FD72FD170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51550-90E2-4810-9ACF-3C136E7A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8A9DF-5EB1-49FE-98F2-99FF534C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95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CE540-ED71-48D1-A769-6E76D96F1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647EA-17ED-434F-A9B7-CEBF0A238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68D1E-B947-4302-BA9D-C56F8182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4ABF8-DF76-488B-A071-756853F9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7F01B-399F-4CFC-AC5D-1CBCCD57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6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606AE16-8D53-A649-9482-7C8DBD7175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898A7-9259-4A11-AE10-E9F5307E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075F9-4C1D-44C4-8009-8C366F942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08D85-4997-439D-9DE6-32AEB01F0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DC029-ECED-420A-898F-F0CA9DE0D2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32DBE-C71D-4B1D-A54F-5F556227F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B1ABB-1D88-4B98-A788-CD7E41588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71D6E-4D44-4ADB-A86A-8579C1F5E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687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Functional and non-functional requirements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85576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382000" cy="1104900"/>
          </a:xfrm>
        </p:spPr>
        <p:txBody>
          <a:bodyPr/>
          <a:lstStyle/>
          <a:p>
            <a:r>
              <a:rPr lang="en-GB" dirty="0"/>
              <a:t>Functional and non-functional requirements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98637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Functional requirements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Statements of services the system should provide, how the system should react to particular inputs and how the system should behave in particular situations.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May state what the system should not do.</a:t>
            </a:r>
            <a:endParaRPr lang="en-GB" sz="2000" dirty="0"/>
          </a:p>
          <a:p>
            <a:pPr>
              <a:lnSpc>
                <a:spcPct val="90000"/>
              </a:lnSpc>
            </a:pPr>
            <a:r>
              <a:rPr lang="en-GB" sz="2400" dirty="0"/>
              <a:t>Non-functional requirements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C</a:t>
            </a:r>
            <a:r>
              <a:rPr lang="en-GB" sz="2000" dirty="0"/>
              <a:t>onstraints on the services or functions offered by the system such as timing constraints, constraints on the development process, standards, etc.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Often apply to the system as a whole rather than individual features or services.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Functional requirements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 functionality or system services.</a:t>
            </a:r>
          </a:p>
          <a:p>
            <a:r>
              <a:rPr lang="en-GB" dirty="0"/>
              <a:t>Depend on the type of software, expected users and the type of system where the software is used.</a:t>
            </a:r>
          </a:p>
          <a:p>
            <a:r>
              <a:rPr lang="en-GB" dirty="0"/>
              <a:t>Functional user requirements may be high-level statements of what the system should do.</a:t>
            </a:r>
          </a:p>
          <a:p>
            <a:r>
              <a:rPr lang="en-GB" dirty="0"/>
              <a:t>Functional system requirements should describe the system services in detail.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Non-functional requirements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</a:pPr>
            <a:r>
              <a:rPr lang="en-GB" dirty="0"/>
              <a:t>These define system properties and constraints e.g. reliability, response time and storage requirements. Constraints are I/O device capability, system representations, etc.</a:t>
            </a:r>
          </a:p>
          <a:p>
            <a:pPr>
              <a:lnSpc>
                <a:spcPct val="90000"/>
              </a:lnSpc>
            </a:pPr>
            <a:r>
              <a:rPr lang="en-GB" dirty="0"/>
              <a:t>Process requirements may also be specified mandating a particular IDE, programming language or development method.</a:t>
            </a:r>
          </a:p>
          <a:p>
            <a:pPr>
              <a:lnSpc>
                <a:spcPct val="90000"/>
              </a:lnSpc>
            </a:pPr>
            <a:r>
              <a:rPr lang="en-GB" dirty="0"/>
              <a:t>Non-functional requirements may be more critical than functional requirements. If these are not met, the system may be useless.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Types of nonfunctional requirement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4" name="Picture 3" descr="4.3 Non-functionalReq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911350"/>
            <a:ext cx="6915549" cy="387985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Non-functional requirements may affect the overall architecture of a system rather than the individual components. </a:t>
            </a:r>
          </a:p>
          <a:p>
            <a:pPr lvl="1"/>
            <a:r>
              <a:rPr lang="en-US" dirty="0"/>
              <a:t>For example, to ensure that performance requirements are met, you may have to organize the system to minimize communications between components.</a:t>
            </a:r>
            <a:endParaRPr lang="en-GB" dirty="0"/>
          </a:p>
          <a:p>
            <a:r>
              <a:rPr lang="en-US" dirty="0"/>
              <a:t>A single non-functional requirement, such as a security requirement, may generate a number of related functional requirements that define system services that are required. </a:t>
            </a:r>
          </a:p>
          <a:p>
            <a:pPr lvl="1"/>
            <a:r>
              <a:rPr lang="en-US" dirty="0"/>
              <a:t>It may also generate requirements that restrict existing requirements.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Metrics for specifying nonfunctional requirements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1600200"/>
          <a:ext cx="7620000" cy="48768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418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Property</a:t>
                      </a:r>
                    </a:p>
                  </a:txBody>
                  <a:tcPr marL="73025" marR="73025" marT="9144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Measure</a:t>
                      </a:r>
                    </a:p>
                  </a:txBody>
                  <a:tcPr marL="73025" marR="73025" marT="9144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781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Speed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Processed transactions/second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User/event response time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Screen refresh time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129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Size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Mbytes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Number of ROM chips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129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Ease of use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Training time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Number of help frames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043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Reliability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Mean time to failure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Probability of unavailability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Rate of failure occurrence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Availability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781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Robustness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Time to restart after failure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Percentage of events causing failure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Probability of data corruption on failure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129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Portability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Percentage of target dependent statements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charset="0"/>
                          <a:cs typeface="Arial"/>
                        </a:rPr>
                        <a:t>Number of target systems</a:t>
                      </a:r>
                    </a:p>
                  </a:txBody>
                  <a:tcPr marL="73025" marR="73025" marT="0" marB="9144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687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Requirements engineering processes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4760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engineering processes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The processes used for RE vary widely depending on the application domain, the people involved and the organisation developing the requirements.</a:t>
            </a:r>
          </a:p>
          <a:p>
            <a:pPr>
              <a:lnSpc>
                <a:spcPct val="90000"/>
              </a:lnSpc>
            </a:pPr>
            <a:r>
              <a:rPr lang="en-GB" dirty="0"/>
              <a:t>However, there are a number of generic activities common to all processes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Requirements elicitation;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Requirements analysis;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Requirements validation;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Requirements management.</a:t>
            </a:r>
          </a:p>
          <a:p>
            <a:pPr>
              <a:lnSpc>
                <a:spcPct val="90000"/>
              </a:lnSpc>
            </a:pPr>
            <a:r>
              <a:rPr lang="en-GB" dirty="0"/>
              <a:t>In practice, RE is an iterative activity in which these processes are interleaved.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687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Requirements elicitation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80811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Requirements elicitation and analysis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sz="2400"/>
              <a:t>Sometimes called requirements elicitation or requirements discovery.</a:t>
            </a:r>
          </a:p>
          <a:p>
            <a:r>
              <a:rPr lang="en-GB" sz="2400"/>
              <a:t>Involves technical staff working with customers to find out about the application domain, the services that the system should provide and the system’s operational constraints.</a:t>
            </a:r>
          </a:p>
          <a:p>
            <a:r>
              <a:rPr lang="en-GB" sz="2400"/>
              <a:t>May involve end-users, managers, engineers involved in maintenance, domain experts, trade unions, etc. These are called </a:t>
            </a:r>
            <a:r>
              <a:rPr lang="en-GB" sz="2400" i="1"/>
              <a:t>stakeholders.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engineers work with a range of system stakeholders to find out about the application domain, the services that the system should provide, the required system performance, hardware constraints, other systems, etc.</a:t>
            </a:r>
          </a:p>
          <a:p>
            <a:r>
              <a:rPr lang="en-US" dirty="0"/>
              <a:t>Stages include:</a:t>
            </a:r>
          </a:p>
          <a:p>
            <a:pPr lvl="1"/>
            <a:r>
              <a:rPr lang="en-US" dirty="0"/>
              <a:t>Requirements discovery,</a:t>
            </a:r>
          </a:p>
          <a:p>
            <a:pPr lvl="1"/>
            <a:r>
              <a:rPr lang="en-US" dirty="0"/>
              <a:t>Requirements classification and organization,</a:t>
            </a:r>
          </a:p>
          <a:p>
            <a:pPr lvl="1"/>
            <a:r>
              <a:rPr lang="en-US" dirty="0"/>
              <a:t>Requirements prioritization and negotiation,</a:t>
            </a:r>
          </a:p>
          <a:p>
            <a:pPr lvl="1"/>
            <a:r>
              <a:rPr lang="en-US" dirty="0"/>
              <a:t>Requirements specification.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458200" cy="1104900"/>
          </a:xfrm>
          <a:noFill/>
          <a:ln/>
        </p:spPr>
        <p:txBody>
          <a:bodyPr lIns="90487" tIns="44450" rIns="90487" bIns="44450"/>
          <a:lstStyle/>
          <a:p>
            <a:r>
              <a:rPr lang="en-GB" dirty="0"/>
              <a:t>Problems of requirements elicitation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sz="2400" dirty="0"/>
              <a:t>Stakeholders don’t know what they really want.</a:t>
            </a:r>
          </a:p>
          <a:p>
            <a:r>
              <a:rPr lang="en-GB" sz="2400" dirty="0"/>
              <a:t>Stakeholders express requirements in their own terms.</a:t>
            </a:r>
          </a:p>
          <a:p>
            <a:r>
              <a:rPr lang="en-GB" sz="2400" dirty="0"/>
              <a:t>Different stakeholders may have conflicting requirements.</a:t>
            </a:r>
          </a:p>
          <a:p>
            <a:r>
              <a:rPr lang="en-GB" sz="2400" dirty="0"/>
              <a:t>Organisational and political factors may influence the system requirements.</a:t>
            </a:r>
          </a:p>
          <a:p>
            <a:r>
              <a:rPr lang="en-GB" sz="2400" dirty="0"/>
              <a:t>The requirements change during the analysis process. New stakeholders may emerge and the business environment may change.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dirty="0"/>
              <a:t>requirements elicitation and analysis process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4" name="Picture 3" descr="4.13 RequirementsElicita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916832"/>
            <a:ext cx="5950107" cy="390864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Process activities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</a:pPr>
            <a:r>
              <a:rPr lang="en-GB" sz="2400" dirty="0"/>
              <a:t>Requirements discovery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Interacting with stakeholders to discover their requirements. Domain requirements are also discovered at this stage.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Requirements classification and organisation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Groups related requirements and organises them into coherent clusters.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Prioritisation and negotiation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Prioritising requirements and resolving requirements conflicts.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Requirements specification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Requirements are documented and input into the next round of the spiral.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gathering information about the required and existing systems and distilling the user and system requirements from this information.</a:t>
            </a:r>
          </a:p>
          <a:p>
            <a:r>
              <a:rPr lang="en-US" dirty="0"/>
              <a:t>Interaction is with system stakeholders from managers to external regulators.</a:t>
            </a:r>
          </a:p>
          <a:p>
            <a:r>
              <a:rPr lang="en-US" dirty="0"/>
              <a:t>Systems normally have a range of stakeholders.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 or informal interviews with stakeholders are part of most RE processes.</a:t>
            </a:r>
          </a:p>
          <a:p>
            <a:r>
              <a:rPr lang="en-US" dirty="0"/>
              <a:t>Types of interview</a:t>
            </a:r>
          </a:p>
          <a:p>
            <a:pPr lvl="1"/>
            <a:r>
              <a:rPr lang="en-US" dirty="0"/>
              <a:t>Closed interviews based on pre-determined list of questions</a:t>
            </a:r>
          </a:p>
          <a:p>
            <a:pPr lvl="1"/>
            <a:r>
              <a:rPr lang="en-US" dirty="0"/>
              <a:t>Open interviews where various issues are explored with stakeholders.</a:t>
            </a:r>
          </a:p>
          <a:p>
            <a:r>
              <a:rPr lang="en-US" dirty="0"/>
              <a:t>Effective interviewing</a:t>
            </a:r>
          </a:p>
          <a:p>
            <a:pPr lvl="1"/>
            <a:r>
              <a:rPr lang="en-US" dirty="0"/>
              <a:t>Be open-minded, avoid pre-conceived ideas about the requirements and are willing to listen to stakeholders. </a:t>
            </a:r>
            <a:endParaRPr lang="en-GB" dirty="0"/>
          </a:p>
          <a:p>
            <a:pPr lvl="1"/>
            <a:r>
              <a:rPr lang="en-US" dirty="0"/>
              <a:t>Prompt the interviewee to get discussions going using a springboard question, a requirements proposal, or by working together on a prototype system.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Stories and scenarios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Scenarios and user stories are real-life examples of how a system can be used.</a:t>
            </a:r>
          </a:p>
          <a:p>
            <a:r>
              <a:rPr lang="en-US" dirty="0"/>
              <a:t>Stories and scenarios are a description of how a system may be used for a particular task.</a:t>
            </a:r>
          </a:p>
          <a:p>
            <a:r>
              <a:rPr lang="en-US" dirty="0"/>
              <a:t>Because they are based on a practical situation, stakeholders can relate to them and can comment on their situation with respect to the story.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687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Requirements specification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02173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writing down the user and system requirements in a requirements document.</a:t>
            </a:r>
          </a:p>
          <a:p>
            <a:r>
              <a:rPr lang="en-US" dirty="0"/>
              <a:t>User requirements ha</a:t>
            </a:r>
            <a:r>
              <a:rPr lang="tr-TR" dirty="0"/>
              <a:t>s</a:t>
            </a:r>
            <a:r>
              <a:rPr lang="en-US" dirty="0"/>
              <a:t> to be understandable by end-users and customers who do not have a technical background.</a:t>
            </a:r>
          </a:p>
          <a:p>
            <a:r>
              <a:rPr lang="en-US" dirty="0"/>
              <a:t>System requirements are more detailed requirements and may include more technical information.</a:t>
            </a:r>
          </a:p>
          <a:p>
            <a:r>
              <a:rPr lang="en-US" dirty="0"/>
              <a:t>The requirements may be part of a contract for the system development</a:t>
            </a:r>
          </a:p>
          <a:p>
            <a:pPr lvl="1"/>
            <a:r>
              <a:rPr lang="en-US" dirty="0"/>
              <a:t>It is therefore important that these are as complete as possible.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04293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229600" cy="1104900"/>
          </a:xfrm>
        </p:spPr>
        <p:txBody>
          <a:bodyPr/>
          <a:lstStyle/>
          <a:p>
            <a:r>
              <a:rPr lang="en-GB"/>
              <a:t>Guidelines for writing requirements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Invent a standard format and use it for all requirements.</a:t>
            </a:r>
          </a:p>
          <a:p>
            <a:r>
              <a:rPr lang="en-GB" dirty="0"/>
              <a:t>Use language in a consistent way. Use shall for mandatory requirements, should for desirable requirements.</a:t>
            </a:r>
          </a:p>
          <a:p>
            <a:r>
              <a:rPr lang="en-GB" dirty="0"/>
              <a:t>Use text highlighting to identify key parts of the requirement.</a:t>
            </a:r>
          </a:p>
          <a:p>
            <a:r>
              <a:rPr lang="en-GB" dirty="0"/>
              <a:t>Avoid the use of computer jargon.</a:t>
            </a:r>
          </a:p>
          <a:p>
            <a:r>
              <a:rPr lang="en-GB" dirty="0"/>
              <a:t>Include an explanation (rationale) of why a requirement is necessary.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73008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244" y="2348880"/>
            <a:ext cx="8239555" cy="1143000"/>
          </a:xfrm>
        </p:spPr>
        <p:txBody>
          <a:bodyPr/>
          <a:lstStyle/>
          <a:p>
            <a:pPr algn="ctr"/>
            <a:r>
              <a:rPr lang="en-US" dirty="0"/>
              <a:t>Requirements validation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45495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Requirements validation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Concerned with demonstrating that the requirements define the system that the customer really wants.</a:t>
            </a:r>
          </a:p>
          <a:p>
            <a:r>
              <a:rPr lang="en-GB"/>
              <a:t>Requirements error costs are high so validation is very important</a:t>
            </a:r>
          </a:p>
          <a:p>
            <a:pPr lvl="1"/>
            <a:r>
              <a:rPr lang="en-GB"/>
              <a:t>Fixing a requirements error after delivery may cost up to 100 times the cost of fixing an implementation error.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Requirements checking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sz="2400" dirty="0">
                <a:solidFill>
                  <a:srgbClr val="000000"/>
                </a:solidFill>
              </a:rPr>
              <a:t>Validity. Does the system provide the functions which best support the customer’s needs?</a:t>
            </a:r>
          </a:p>
          <a:p>
            <a:r>
              <a:rPr lang="en-GB" sz="2400" dirty="0">
                <a:solidFill>
                  <a:srgbClr val="000000"/>
                </a:solidFill>
              </a:rPr>
              <a:t>Consistency. Are there any requirements conflicts?</a:t>
            </a:r>
          </a:p>
          <a:p>
            <a:r>
              <a:rPr lang="en-GB" sz="2400" dirty="0">
                <a:solidFill>
                  <a:srgbClr val="000000"/>
                </a:solidFill>
              </a:rPr>
              <a:t>Completeness. Are all functions required by the customer included?</a:t>
            </a:r>
          </a:p>
          <a:p>
            <a:r>
              <a:rPr lang="en-GB" sz="2400" dirty="0">
                <a:solidFill>
                  <a:srgbClr val="000000"/>
                </a:solidFill>
              </a:rPr>
              <a:t>Realism. Can the requirements be implemented given available budget and technology</a:t>
            </a:r>
          </a:p>
          <a:p>
            <a:r>
              <a:rPr lang="en-GB" sz="2400" dirty="0">
                <a:solidFill>
                  <a:srgbClr val="000000"/>
                </a:solidFill>
              </a:rPr>
              <a:t>Verifiability. Can the requirements be checked?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305800" cy="1104900"/>
          </a:xfrm>
        </p:spPr>
        <p:txBody>
          <a:bodyPr/>
          <a:lstStyle/>
          <a:p>
            <a:r>
              <a:rPr lang="en-GB"/>
              <a:t>Requirements validation techniques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Requirements reviews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Systematic manual analysis of the requirements.</a:t>
            </a:r>
          </a:p>
          <a:p>
            <a:pPr>
              <a:lnSpc>
                <a:spcPct val="90000"/>
              </a:lnSpc>
            </a:pPr>
            <a:r>
              <a:rPr lang="en-GB" dirty="0"/>
              <a:t>Prototyping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Using an executable model of the system to check requirements. Covered in Chapter 2.</a:t>
            </a:r>
          </a:p>
          <a:p>
            <a:pPr>
              <a:lnSpc>
                <a:spcPct val="90000"/>
              </a:lnSpc>
            </a:pPr>
            <a:r>
              <a:rPr lang="en-GB" dirty="0"/>
              <a:t>Test-case generation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Developing tests for requirements to check testability.</a:t>
            </a:r>
          </a:p>
          <a:p>
            <a:pPr>
              <a:lnSpc>
                <a:spcPct val="90000"/>
              </a:lnSpc>
              <a:buFont typeface="Zapf Dingbats" charset="2"/>
              <a:buNone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Requirements reviews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Regular reviews should be held while the requirements definition is being formulated.</a:t>
            </a:r>
          </a:p>
          <a:p>
            <a:r>
              <a:rPr lang="en-GB"/>
              <a:t>Both client and contractor staff should be involved in reviews.</a:t>
            </a:r>
          </a:p>
          <a:p>
            <a:r>
              <a:rPr lang="en-GB"/>
              <a:t>Reviews may be formal (with completed documents) or informal. Good communications between developers, customers and users can resolve problems at an early stage.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Review checks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rgbClr val="FF0000"/>
                </a:solidFill>
              </a:rPr>
              <a:t>Verifiability</a:t>
            </a:r>
            <a:endParaRPr lang="en-GB" dirty="0"/>
          </a:p>
          <a:p>
            <a:pPr lvl="1">
              <a:lnSpc>
                <a:spcPct val="90000"/>
              </a:lnSpc>
            </a:pPr>
            <a:r>
              <a:rPr lang="en-GB" dirty="0"/>
              <a:t>Is the requirement realistically testable?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0000"/>
                </a:solidFill>
              </a:rPr>
              <a:t>Comprehensibility</a:t>
            </a:r>
            <a:endParaRPr lang="en-GB" dirty="0"/>
          </a:p>
          <a:p>
            <a:pPr lvl="1">
              <a:lnSpc>
                <a:spcPct val="90000"/>
              </a:lnSpc>
            </a:pPr>
            <a:r>
              <a:rPr lang="en-GB" dirty="0"/>
              <a:t>Is the requirement properly understood?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0000"/>
                </a:solidFill>
              </a:rPr>
              <a:t>Traceability</a:t>
            </a:r>
            <a:endParaRPr lang="en-GB" dirty="0"/>
          </a:p>
          <a:p>
            <a:pPr lvl="1">
              <a:lnSpc>
                <a:spcPct val="90000"/>
              </a:lnSpc>
            </a:pPr>
            <a:r>
              <a:rPr lang="en-GB" dirty="0"/>
              <a:t>Is the origin of the requirement clearly stated?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0000"/>
                </a:solidFill>
              </a:rPr>
              <a:t>Adaptability</a:t>
            </a:r>
            <a:endParaRPr lang="en-GB" dirty="0"/>
          </a:p>
          <a:p>
            <a:pPr lvl="1">
              <a:lnSpc>
                <a:spcPct val="90000"/>
              </a:lnSpc>
            </a:pPr>
            <a:r>
              <a:rPr lang="en-GB" dirty="0"/>
              <a:t>Can the requirement be changed without a large impact on other requirements?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Requirements management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Requirements management is the process of managing changing requirements during the requirements engineering process and system development.</a:t>
            </a:r>
          </a:p>
          <a:p>
            <a:r>
              <a:rPr lang="en-GB" dirty="0"/>
              <a:t>New requirements emerge as a system is being developed and after it has gone into use.</a:t>
            </a:r>
          </a:p>
          <a:p>
            <a:r>
              <a:rPr lang="en-US" dirty="0"/>
              <a:t>You need to keep track of individual requirements and maintain links between dependent requirements so that you can assess the impact of requirements changes. You need to establish a formal process for making change proposals and linking these to system requirements.</a:t>
            </a:r>
            <a:r>
              <a:rPr lang="en-GB" dirty="0"/>
              <a:t> </a:t>
            </a:r>
            <a:endParaRPr lang="en-GB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4 Requirements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F70CE-84E9-D04C-9B15-10C693AA0F2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30912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BB756-37F8-4AEE-998F-CCBCF4B8C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691" y="1692364"/>
            <a:ext cx="7230618" cy="179070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SE 321/SE 305</a:t>
            </a:r>
            <a:br>
              <a:rPr lang="en-US" b="1" dirty="0"/>
            </a:br>
            <a:r>
              <a:rPr lang="en-US" sz="3600" b="1" dirty="0"/>
              <a:t>SOFTWARE SPECIFICATION AND DESIGN</a:t>
            </a:r>
            <a:br>
              <a:rPr lang="en-US" sz="3600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9AF64-B9BA-453F-9964-B47F1208D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558778"/>
            <a:ext cx="6858000" cy="1735598"/>
          </a:xfrm>
        </p:spPr>
        <p:txBody>
          <a:bodyPr>
            <a:normAutofit/>
          </a:bodyPr>
          <a:lstStyle/>
          <a:p>
            <a:r>
              <a:rPr lang="en-US" sz="3150" b="1" dirty="0">
                <a:solidFill>
                  <a:schemeClr val="accent2"/>
                </a:solidFill>
                <a:latin typeface="+mj-lt"/>
              </a:rPr>
              <a:t>Context Diagrams and Data Flow Diagrams</a:t>
            </a:r>
          </a:p>
          <a:p>
            <a:endParaRPr lang="en-US" b="1" dirty="0">
              <a:solidFill>
                <a:schemeClr val="accent2"/>
              </a:solidFill>
              <a:latin typeface="+mj-lt"/>
            </a:endParaRPr>
          </a:p>
          <a:p>
            <a:r>
              <a:rPr lang="en-US" b="1" dirty="0">
                <a:solidFill>
                  <a:schemeClr val="accent2"/>
                </a:solidFill>
                <a:latin typeface="+mj-lt"/>
              </a:rPr>
              <a:t>WEEK #7</a:t>
            </a:r>
          </a:p>
        </p:txBody>
      </p:sp>
    </p:spTree>
    <p:extLst>
      <p:ext uri="{BB962C8B-B14F-4D97-AF65-F5344CB8AC3E}">
        <p14:creationId xmlns:p14="http://schemas.microsoft.com/office/powerpoint/2010/main" val="3057067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Context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28148-6FDF-46E1-89B0-A8195A7F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683246" cy="3263504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latin typeface="+mj-lt"/>
              </a:rPr>
              <a:t>System Context Diagrams are diagrams used in systems design to represent the more important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external actors </a:t>
            </a:r>
            <a:r>
              <a:rPr lang="en-US" dirty="0">
                <a:latin typeface="+mj-lt"/>
              </a:rPr>
              <a:t>that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interact with the system </a:t>
            </a:r>
            <a:r>
              <a:rPr lang="en-US" dirty="0">
                <a:latin typeface="+mj-lt"/>
              </a:rPr>
              <a:t>at hand. </a:t>
            </a:r>
          </a:p>
          <a:p>
            <a:pPr lvl="1"/>
            <a:r>
              <a:rPr lang="en-US" dirty="0">
                <a:latin typeface="+mj-lt"/>
              </a:rPr>
              <a:t>This type of diagram usually pictures </a:t>
            </a:r>
            <a:r>
              <a:rPr lang="en-US" b="1" dirty="0">
                <a:solidFill>
                  <a:srgbClr val="3366FF"/>
                </a:solidFill>
                <a:latin typeface="+mj-lt"/>
              </a:rPr>
              <a:t>the system at the center</a:t>
            </a:r>
            <a:r>
              <a:rPr lang="en-US" dirty="0">
                <a:latin typeface="+mj-lt"/>
              </a:rPr>
              <a:t>, with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no details of its interior structure</a:t>
            </a:r>
            <a:r>
              <a:rPr lang="en-US" dirty="0">
                <a:latin typeface="+mj-lt"/>
              </a:rPr>
              <a:t>, surrounded by all its interacting systems, environment and activities. </a:t>
            </a:r>
          </a:p>
          <a:p>
            <a:pPr lvl="0"/>
            <a:r>
              <a:rPr lang="en-US" dirty="0">
                <a:latin typeface="+mj-lt"/>
              </a:rPr>
              <a:t>The objective of a system context diagram is to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focus attention on external factors</a:t>
            </a:r>
            <a:r>
              <a:rPr lang="en-US" dirty="0">
                <a:latin typeface="+mj-lt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events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that should be considered </a:t>
            </a:r>
            <a:r>
              <a:rPr lang="en-US" dirty="0">
                <a:latin typeface="+mj-lt"/>
              </a:rPr>
              <a:t>in developing a complete set of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system requirements and constraints</a:t>
            </a:r>
            <a:r>
              <a:rPr lang="en-US" dirty="0">
                <a:latin typeface="+mj-lt"/>
              </a:rPr>
              <a:t>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lvl="1"/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b="1" u="sng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5626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Context Diagram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28148-6FDF-46E1-89B0-A8195A7F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683246" cy="326350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3366FF"/>
                </a:solidFill>
                <a:latin typeface="+mj-lt"/>
              </a:rPr>
              <a:t>Identify the system </a:t>
            </a:r>
            <a:r>
              <a:rPr lang="en-US" sz="2400" dirty="0">
                <a:latin typeface="+mj-lt"/>
              </a:rPr>
              <a:t>and its boundaries (the context)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3366FF"/>
                </a:solidFill>
                <a:latin typeface="+mj-lt"/>
              </a:rPr>
              <a:t>Identify external entities </a:t>
            </a:r>
            <a:r>
              <a:rPr lang="en-US" sz="2400" dirty="0">
                <a:latin typeface="+mj-lt"/>
              </a:rPr>
              <a:t>(providers, receivers of system info)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3366FF"/>
                </a:solidFill>
                <a:latin typeface="+mj-lt"/>
              </a:rPr>
              <a:t>Identify external data flows </a:t>
            </a:r>
            <a:r>
              <a:rPr lang="en-US" sz="2400" dirty="0">
                <a:latin typeface="+mj-lt"/>
              </a:rPr>
              <a:t>(input, output)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00" b="1" dirty="0">
                <a:solidFill>
                  <a:srgbClr val="FF0000"/>
                </a:solidFill>
                <a:latin typeface="+mj-lt"/>
              </a:rPr>
              <a:t>However, NO DATA STORE !!!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</a:rPr>
              <a:t>Note: </a:t>
            </a:r>
            <a:r>
              <a:rPr lang="en-US" sz="2400" u="sng" dirty="0">
                <a:latin typeface="+mj-lt"/>
              </a:rPr>
              <a:t>the whole system itself is a process </a:t>
            </a:r>
            <a:r>
              <a:rPr lang="en-US" sz="2400" dirty="0">
                <a:latin typeface="+mj-lt"/>
              </a:rPr>
              <a:t>(it receives input and transforms into output)</a:t>
            </a:r>
          </a:p>
          <a:p>
            <a:pPr lvl="1"/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b="1" u="sng" dirty="0">
              <a:solidFill>
                <a:schemeClr val="accent6"/>
              </a:solidFill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20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Vending Machine Example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Assumption: There is no Revise Order Option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987EE8EA-CD6B-4714-A80B-0A4013E536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21001" y="2446020"/>
            <a:ext cx="5901998" cy="3028950"/>
            <a:chOff x="2793" y="1510"/>
            <a:chExt cx="5075" cy="2635"/>
          </a:xfrm>
        </p:grpSpPr>
        <p:sp>
          <p:nvSpPr>
            <p:cNvPr id="9" name="AutoShape 10">
              <a:extLst>
                <a:ext uri="{FF2B5EF4-FFF2-40B4-BE49-F238E27FC236}">
                  <a16:creationId xmlns:a16="http://schemas.microsoft.com/office/drawing/2014/main" id="{B961035F-6C81-4497-AE5D-5E42A60DB26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93" y="1510"/>
              <a:ext cx="5075" cy="2635"/>
            </a:xfrm>
            <a:prstGeom prst="rect">
              <a:avLst/>
            </a:prstGeom>
            <a:noFill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7FC10A3E-EBDE-4668-BBCD-6CEB0AB8B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4" y="1932"/>
              <a:ext cx="222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BC57E9F8-AD04-410E-B83F-5D2CF9B18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1808"/>
              <a:ext cx="996" cy="3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>
                <a:defRPr/>
              </a:pPr>
              <a:r>
                <a:rPr lang="en-US" sz="1500" dirty="0">
                  <a:solidFill>
                    <a:prstClr val="black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Customer</a:t>
              </a:r>
              <a:endParaRPr lang="en-US" sz="1500" dirty="0">
                <a:solidFill>
                  <a:prstClr val="black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7" name="Text Box 7">
              <a:extLst>
                <a:ext uri="{FF2B5EF4-FFF2-40B4-BE49-F238E27FC236}">
                  <a16:creationId xmlns:a16="http://schemas.microsoft.com/office/drawing/2014/main" id="{B22C3D49-2E8C-4CF5-B812-AFB7C63E9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" y="1606"/>
              <a:ext cx="996" cy="8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>
                <a:defRPr/>
              </a:pPr>
              <a:r>
                <a:rPr lang="en-US" sz="1800" dirty="0">
                  <a:solidFill>
                    <a:prstClr val="black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Vending Machine System</a:t>
              </a:r>
              <a:endParaRPr lang="en-US" sz="1800" dirty="0">
                <a:solidFill>
                  <a:prstClr val="black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8" name="Line 6">
              <a:extLst>
                <a:ext uri="{FF2B5EF4-FFF2-40B4-BE49-F238E27FC236}">
                  <a16:creationId xmlns:a16="http://schemas.microsoft.com/office/drawing/2014/main" id="{5BDE44AD-6E43-48C3-B632-8CAED562D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8" y="2669"/>
              <a:ext cx="0" cy="12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620A073A-D71A-4185-B958-EAF58FAFC4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5" y="3934"/>
              <a:ext cx="37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Line 4">
              <a:extLst>
                <a:ext uri="{FF2B5EF4-FFF2-40B4-BE49-F238E27FC236}">
                  <a16:creationId xmlns:a16="http://schemas.microsoft.com/office/drawing/2014/main" id="{69213A8D-832A-4EC7-A837-82F2A724E5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5" y="2248"/>
              <a:ext cx="0" cy="16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 Box 3">
              <a:extLst>
                <a:ext uri="{FF2B5EF4-FFF2-40B4-BE49-F238E27FC236}">
                  <a16:creationId xmlns:a16="http://schemas.microsoft.com/office/drawing/2014/main" id="{374E298B-7BA7-4765-A99E-B7ECF466D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1" y="3513"/>
              <a:ext cx="1072" cy="3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>
                <a:defRPr/>
              </a:pPr>
              <a:r>
                <a:rPr lang="en-US" sz="1800" dirty="0">
                  <a:solidFill>
                    <a:prstClr val="black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Send order</a:t>
              </a:r>
              <a:endParaRPr lang="en-US" sz="1800" dirty="0">
                <a:solidFill>
                  <a:prstClr val="black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2" name="Text Box 2">
              <a:extLst>
                <a:ext uri="{FF2B5EF4-FFF2-40B4-BE49-F238E27FC236}">
                  <a16:creationId xmlns:a16="http://schemas.microsoft.com/office/drawing/2014/main" id="{F73355A9-ED20-4FDE-BAA0-7E6E2407E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7" y="1510"/>
              <a:ext cx="1302" cy="3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>
                <a:defRPr/>
              </a:pPr>
              <a:r>
                <a:rPr lang="en-US" sz="1800" dirty="0">
                  <a:solidFill>
                    <a:prstClr val="black"/>
                  </a:solidFill>
                  <a:latin typeface="Times New Roman" pitchFamily="18" charset="0"/>
                  <a:ea typeface="Batang" pitchFamily="18" charset="-127"/>
                  <a:cs typeface="Times New Roman" pitchFamily="18" charset="0"/>
                </a:rPr>
                <a:t>Submit order</a:t>
              </a:r>
              <a:endParaRPr lang="en-US" sz="1800" dirty="0">
                <a:solidFill>
                  <a:prstClr val="black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7311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ATM Example</a:t>
            </a:r>
            <a:br>
              <a:rPr lang="en-US" sz="3000" b="1" dirty="0">
                <a:solidFill>
                  <a:srgbClr val="FF0000"/>
                </a:solidFill>
              </a:rPr>
            </a:br>
            <a:r>
              <a:rPr lang="en-US" sz="3000" b="1" dirty="0">
                <a:solidFill>
                  <a:srgbClr val="FF0000"/>
                </a:solidFill>
              </a:rPr>
              <a:t>Assumption: ONLY Withdrawing Money (not transfer, checking balance, or other services….)</a:t>
            </a:r>
          </a:p>
        </p:txBody>
      </p:sp>
      <p:grpSp>
        <p:nvGrpSpPr>
          <p:cNvPr id="24" name="Group 1">
            <a:extLst>
              <a:ext uri="{FF2B5EF4-FFF2-40B4-BE49-F238E27FC236}">
                <a16:creationId xmlns:a16="http://schemas.microsoft.com/office/drawing/2014/main" id="{40721F85-9026-44BA-A05E-211274EE2FB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21570" y="2340864"/>
            <a:ext cx="6310568" cy="3257550"/>
            <a:chOff x="2965" y="1510"/>
            <a:chExt cx="4845" cy="2530"/>
          </a:xfrm>
        </p:grpSpPr>
        <p:sp>
          <p:nvSpPr>
            <p:cNvPr id="25" name="AutoShape 10">
              <a:extLst>
                <a:ext uri="{FF2B5EF4-FFF2-40B4-BE49-F238E27FC236}">
                  <a16:creationId xmlns:a16="http://schemas.microsoft.com/office/drawing/2014/main" id="{A1CEB939-53FF-476A-9B1A-027DF205F2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965" y="1510"/>
              <a:ext cx="4845" cy="2530"/>
            </a:xfrm>
            <a:prstGeom prst="rect">
              <a:avLst/>
            </a:prstGeom>
            <a:noFill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470D2986-3777-435E-AFA8-7AEE12AA9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4" y="1932"/>
              <a:ext cx="222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 Box 8">
              <a:extLst>
                <a:ext uri="{FF2B5EF4-FFF2-40B4-BE49-F238E27FC236}">
                  <a16:creationId xmlns:a16="http://schemas.microsoft.com/office/drawing/2014/main" id="{07965B50-2589-4559-9245-F38870F35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2" y="1817"/>
              <a:ext cx="919" cy="3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>
                <a:defRPr/>
              </a:pPr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ea typeface="Batang" pitchFamily="18" charset="-127"/>
                  <a:cs typeface="Arial" pitchFamily="34" charset="0"/>
                </a:rPr>
                <a:t>Customer</a:t>
              </a:r>
              <a:endParaRPr lang="en-US" sz="18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D2AB3B0F-26D0-4239-B5E9-26CC55D4D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" y="1606"/>
              <a:ext cx="996" cy="8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r>
                <a:rPr lang="en-US" sz="2100" dirty="0">
                  <a:solidFill>
                    <a:prstClr val="black"/>
                  </a:solidFill>
                  <a:latin typeface="Arial" pitchFamily="34" charset="0"/>
                  <a:ea typeface="Batang" pitchFamily="18" charset="-127"/>
                  <a:cs typeface="Arial" pitchFamily="34" charset="0"/>
                </a:rPr>
                <a:t>ATM System</a:t>
              </a:r>
              <a:endParaRPr lang="en-US" sz="21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9" name="Line 6">
              <a:extLst>
                <a:ext uri="{FF2B5EF4-FFF2-40B4-BE49-F238E27FC236}">
                  <a16:creationId xmlns:a16="http://schemas.microsoft.com/office/drawing/2014/main" id="{780BE06A-3F7B-4AAE-A8FE-F7E488182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8" y="2669"/>
              <a:ext cx="0" cy="12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7CA1519F-0113-4323-AC67-A591F5D7C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5" y="3934"/>
              <a:ext cx="37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Line 4">
              <a:extLst>
                <a:ext uri="{FF2B5EF4-FFF2-40B4-BE49-F238E27FC236}">
                  <a16:creationId xmlns:a16="http://schemas.microsoft.com/office/drawing/2014/main" id="{C06D2842-44ED-437F-B1D0-8667E223B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5" y="2248"/>
              <a:ext cx="0" cy="16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 Box 3">
              <a:extLst>
                <a:ext uri="{FF2B5EF4-FFF2-40B4-BE49-F238E27FC236}">
                  <a16:creationId xmlns:a16="http://schemas.microsoft.com/office/drawing/2014/main" id="{569A37C0-5302-44B8-A45D-1C0B52CDD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7" y="2975"/>
              <a:ext cx="1992" cy="8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>
                <a:defRPr/>
              </a:pPr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ea typeface="Batang" pitchFamily="18" charset="-127"/>
                  <a:cs typeface="Arial" pitchFamily="34" charset="0"/>
                </a:rPr>
                <a:t>Complete transaction</a:t>
              </a:r>
              <a:endParaRPr lang="en-US" sz="18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  <a:p>
              <a:pPr algn="ctr" defTabSz="685800" eaLnBrk="0" hangingPunct="0">
                <a:defRPr/>
              </a:pPr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ea typeface="Batang" pitchFamily="18" charset="-127"/>
                  <a:cs typeface="Arial" pitchFamily="34" charset="0"/>
                </a:rPr>
                <a:t>Or</a:t>
              </a:r>
              <a:endParaRPr lang="en-US" sz="18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  <a:p>
              <a:pPr algn="ctr" defTabSz="685800" eaLnBrk="0" hangingPunct="0">
                <a:defRPr/>
              </a:pPr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ea typeface="Batang" pitchFamily="18" charset="-127"/>
                  <a:cs typeface="Arial" pitchFamily="34" charset="0"/>
                </a:rPr>
                <a:t>Revise transaction</a:t>
              </a:r>
              <a:endParaRPr lang="en-US" sz="18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33" name="Text Box 2">
              <a:extLst>
                <a:ext uri="{FF2B5EF4-FFF2-40B4-BE49-F238E27FC236}">
                  <a16:creationId xmlns:a16="http://schemas.microsoft.com/office/drawing/2014/main" id="{9D1603E5-0CE5-47DF-8BF0-6F949DD69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" y="1510"/>
              <a:ext cx="1762" cy="3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>
                <a:defRPr/>
              </a:pPr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ea typeface="Batang" pitchFamily="18" charset="-127"/>
                  <a:cs typeface="Arial" pitchFamily="34" charset="0"/>
                </a:rPr>
                <a:t>Request transaction</a:t>
              </a:r>
              <a:endParaRPr lang="en-US" sz="18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1483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Food Ordering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28148-6FDF-46E1-89B0-A8195A7F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683246" cy="326350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Draw the context diagram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</a:rPr>
              <a:t>System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+mj-lt"/>
              </a:rPr>
              <a:t>Food order processing system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</a:rPr>
              <a:t>External entities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+mj-lt"/>
              </a:rPr>
              <a:t>Kitchen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+mj-lt"/>
              </a:rPr>
              <a:t>Restaurant manager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+mj-lt"/>
              </a:rPr>
              <a:t>Customer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+mj-lt"/>
              </a:rPr>
              <a:t>Processes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+mj-lt"/>
              </a:rPr>
              <a:t>Customer order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+mj-lt"/>
              </a:rPr>
              <a:t>Receipt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+mj-lt"/>
              </a:rPr>
              <a:t>Food order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+mj-lt"/>
              </a:rPr>
              <a:t>Management report</a:t>
            </a:r>
          </a:p>
          <a:p>
            <a:endParaRPr lang="en-US" dirty="0">
              <a:latin typeface="+mj-lt"/>
            </a:endParaRPr>
          </a:p>
          <a:p>
            <a:endParaRPr lang="en-US" b="1" u="sng" dirty="0">
              <a:solidFill>
                <a:schemeClr val="accent6"/>
              </a:solidFill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282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Food Order processing System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63DDC6-608B-4C23-B99E-3AE1726F5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662" y="2332416"/>
            <a:ext cx="5200650" cy="2776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0008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University System Example</a:t>
            </a:r>
          </a:p>
        </p:txBody>
      </p:sp>
      <p:pic>
        <p:nvPicPr>
          <p:cNvPr id="6" name="Picture 5" descr="383351806_f01bb442f0.jpg">
            <a:extLst>
              <a:ext uri="{FF2B5EF4-FFF2-40B4-BE49-F238E27FC236}">
                <a16:creationId xmlns:a16="http://schemas.microsoft.com/office/drawing/2014/main" id="{BD961136-23E2-4248-886C-713CCD4BF1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21" y="1988821"/>
            <a:ext cx="6198558" cy="358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15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Business and Tax System Example</a:t>
            </a:r>
          </a:p>
        </p:txBody>
      </p:sp>
      <p:pic>
        <p:nvPicPr>
          <p:cNvPr id="5" name="Picture 4" descr="taxcont.gif">
            <a:extLst>
              <a:ext uri="{FF2B5EF4-FFF2-40B4-BE49-F238E27FC236}">
                <a16:creationId xmlns:a16="http://schemas.microsoft.com/office/drawing/2014/main" id="{4534088B-F1DB-4E2F-9D6F-0D1285C913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61710" y="2002536"/>
            <a:ext cx="5504901" cy="354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78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Context Diagram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E8FEB3-7011-48B9-B740-649914A6EEA3}"/>
              </a:ext>
            </a:extLst>
          </p:cNvPr>
          <p:cNvSpPr txBox="1"/>
          <p:nvPr/>
        </p:nvSpPr>
        <p:spPr>
          <a:xfrm>
            <a:off x="628650" y="1940131"/>
            <a:ext cx="75186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A student sends in an application form containing their personal details, and their desired course.</a:t>
            </a:r>
          </a:p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800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The university checks that the course is available. </a:t>
            </a:r>
          </a:p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800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If the course is available and the student is enrolled in the course, the university confirms the enrolment by sending a confirmation letter that they are registered for the course to the student. </a:t>
            </a:r>
          </a:p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800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Or if the course is unavailable the student is sent a rejection letter. </a:t>
            </a:r>
          </a:p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800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342900" indent="-342900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800" b="1" u="sng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What system is being modeled? </a:t>
            </a:r>
          </a:p>
        </p:txBody>
      </p:sp>
    </p:spTree>
    <p:extLst>
      <p:ext uri="{BB962C8B-B14F-4D97-AF65-F5344CB8AC3E}">
        <p14:creationId xmlns:p14="http://schemas.microsoft.com/office/powerpoint/2010/main" val="32720266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Context Diagram Example (cont’d)</a:t>
            </a:r>
          </a:p>
        </p:txBody>
      </p:sp>
      <p:pic>
        <p:nvPicPr>
          <p:cNvPr id="4" name="Picture 2" descr="DFD_image002">
            <a:extLst>
              <a:ext uri="{FF2B5EF4-FFF2-40B4-BE49-F238E27FC236}">
                <a16:creationId xmlns:a16="http://schemas.microsoft.com/office/drawing/2014/main" id="{FCE16ADE-A4E5-414B-A008-DA622DAD8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602" y="2012394"/>
            <a:ext cx="6115050" cy="3439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09804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solidFill>
                  <a:srgbClr val="FF0000"/>
                </a:solidFill>
              </a:rPr>
              <a:t>Example: </a:t>
            </a:r>
            <a:r>
              <a:rPr lang="en-US" sz="3000" b="1" dirty="0">
                <a:solidFill>
                  <a:srgbClr val="FF0000"/>
                </a:solidFill>
              </a:rPr>
              <a:t>City Complaint Handling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F43AA-25C4-4CC9-9104-6BC1DD1E3A83}"/>
              </a:ext>
            </a:extLst>
          </p:cNvPr>
          <p:cNvSpPr txBox="1"/>
          <p:nvPr/>
        </p:nvSpPr>
        <p:spPr>
          <a:xfrm>
            <a:off x="680656" y="1988312"/>
            <a:ext cx="78346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Letters of complaint received from citizens are entered into a complaints master file by the City Clerk’s office. The date, department code, and a complaint description are stored for each letter. Weekly reports are produced from the complaints master file and given to the City Manager. Two weekly reports are produced: a department summary and a detail report of complaint. </a:t>
            </a:r>
          </a:p>
        </p:txBody>
      </p:sp>
    </p:spTree>
    <p:extLst>
      <p:ext uri="{BB962C8B-B14F-4D97-AF65-F5344CB8AC3E}">
        <p14:creationId xmlns:p14="http://schemas.microsoft.com/office/powerpoint/2010/main" val="3608659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Example: City Complaint Handling System</a:t>
            </a:r>
          </a:p>
        </p:txBody>
      </p:sp>
      <p:pic>
        <p:nvPicPr>
          <p:cNvPr id="4" name="Picture 1" descr="img016">
            <a:extLst>
              <a:ext uri="{FF2B5EF4-FFF2-40B4-BE49-F238E27FC236}">
                <a16:creationId xmlns:a16="http://schemas.microsoft.com/office/drawing/2014/main" id="{769CF2A1-E022-4BBD-8D7C-C38E8C49D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249" y="1999371"/>
            <a:ext cx="4840313" cy="349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5665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 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28148-6FDF-46E1-89B0-A8195A7F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683246" cy="3263504"/>
          </a:xfrm>
        </p:spPr>
        <p:txBody>
          <a:bodyPr>
            <a:normAutofit/>
          </a:bodyPr>
          <a:lstStyle/>
          <a:p>
            <a:pPr lvl="0" algn="just"/>
            <a:r>
              <a:rPr lang="en-US" dirty="0">
                <a:latin typeface="+mj-lt"/>
              </a:rPr>
              <a:t>Data flow diagram (DFD) represents the 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flows</a:t>
            </a:r>
            <a:r>
              <a:rPr lang="en-US" dirty="0">
                <a:latin typeface="+mj-lt"/>
              </a:rPr>
              <a:t> of data between different processes in a business. </a:t>
            </a:r>
          </a:p>
          <a:p>
            <a:pPr lvl="0" algn="just"/>
            <a:r>
              <a:rPr lang="en-US" dirty="0">
                <a:latin typeface="+mj-lt"/>
              </a:rPr>
              <a:t>It is a graphical technique that depicts </a:t>
            </a:r>
            <a:r>
              <a:rPr lang="en-US" dirty="0">
                <a:highlight>
                  <a:srgbClr val="FFFF00"/>
                </a:highlight>
                <a:latin typeface="+mj-lt"/>
              </a:rPr>
              <a:t>information flow </a:t>
            </a:r>
            <a:r>
              <a:rPr lang="en-US" dirty="0">
                <a:latin typeface="+mj-lt"/>
              </a:rPr>
              <a:t>and the </a:t>
            </a:r>
            <a:r>
              <a:rPr lang="en-US" b="1" u="sng" dirty="0">
                <a:latin typeface="+mj-lt"/>
              </a:rPr>
              <a:t>transforms that are applied as data move form input to output</a:t>
            </a:r>
            <a:r>
              <a:rPr lang="en-US" dirty="0">
                <a:latin typeface="+mj-lt"/>
              </a:rPr>
              <a:t>. </a:t>
            </a:r>
          </a:p>
          <a:p>
            <a:pPr lvl="0" algn="just"/>
            <a:r>
              <a:rPr lang="en-US" dirty="0">
                <a:latin typeface="+mj-lt"/>
              </a:rPr>
              <a:t>It provides a simple, intuitive method for describing business processes without focusing on the details of computer systems.</a:t>
            </a:r>
          </a:p>
          <a:p>
            <a:pPr lvl="0" algn="just"/>
            <a:r>
              <a:rPr lang="en-US" dirty="0">
                <a:latin typeface="+mj-lt"/>
              </a:rPr>
              <a:t> DFDs are attractive technique because they provide </a:t>
            </a:r>
            <a:r>
              <a:rPr lang="en-US" dirty="0">
                <a:highlight>
                  <a:srgbClr val="00FF00"/>
                </a:highlight>
                <a:latin typeface="+mj-lt"/>
              </a:rPr>
              <a:t>what users do rather than what computers do</a:t>
            </a:r>
            <a:r>
              <a:rPr lang="en-US" dirty="0">
                <a:latin typeface="+mj-lt"/>
              </a:rPr>
              <a:t>.</a:t>
            </a:r>
            <a:endParaRPr lang="en-US" sz="1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lvl="1"/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b="1" u="sng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1993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 Flow Diagram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28148-6FDF-46E1-89B0-A8195A7F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683246" cy="326350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000" dirty="0">
                <a:latin typeface="+mj-lt"/>
              </a:rPr>
              <a:t>DFDs only involve four symbols:</a:t>
            </a:r>
          </a:p>
          <a:p>
            <a:pPr lvl="1"/>
            <a:r>
              <a:rPr lang="en-US" sz="2700" dirty="0">
                <a:solidFill>
                  <a:srgbClr val="3366FF"/>
                </a:solidFill>
                <a:latin typeface="+mj-lt"/>
              </a:rPr>
              <a:t>Process</a:t>
            </a:r>
          </a:p>
          <a:p>
            <a:pPr lvl="1"/>
            <a:r>
              <a:rPr lang="en-US" sz="2700" dirty="0">
                <a:solidFill>
                  <a:srgbClr val="3366FF"/>
                </a:solidFill>
                <a:latin typeface="+mj-lt"/>
              </a:rPr>
              <a:t>Data Flow</a:t>
            </a:r>
          </a:p>
          <a:p>
            <a:pPr lvl="1"/>
            <a:r>
              <a:rPr lang="en-US" sz="2700" dirty="0">
                <a:solidFill>
                  <a:srgbClr val="3366FF"/>
                </a:solidFill>
                <a:latin typeface="+mj-lt"/>
              </a:rPr>
              <a:t>Data Store</a:t>
            </a:r>
          </a:p>
          <a:p>
            <a:pPr lvl="1"/>
            <a:r>
              <a:rPr lang="en-US" sz="2700" dirty="0">
                <a:solidFill>
                  <a:srgbClr val="3366FF"/>
                </a:solidFill>
                <a:latin typeface="+mj-lt"/>
              </a:rPr>
              <a:t>External entity</a:t>
            </a:r>
          </a:p>
          <a:p>
            <a:pPr lvl="1"/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b="1" u="sng" dirty="0">
              <a:solidFill>
                <a:schemeClr val="accent6"/>
              </a:solidFill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89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DeMarco and Yourdon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28148-6FDF-46E1-89B0-A8195A7F0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7683246" cy="3263504"/>
          </a:xfrm>
        </p:spPr>
        <p:txBody>
          <a:bodyPr>
            <a:normAutofit/>
          </a:bodyPr>
          <a:lstStyle/>
          <a:p>
            <a:endParaRPr lang="en-US" dirty="0">
              <a:latin typeface="+mj-lt"/>
            </a:endParaRPr>
          </a:p>
          <a:p>
            <a:endParaRPr lang="en-US" b="1" u="sng" dirty="0">
              <a:solidFill>
                <a:schemeClr val="accent6"/>
              </a:solidFill>
              <a:latin typeface="+mj-lt"/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FAC8C7-1896-49F7-98BA-F3E885C0821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589" y="2125266"/>
            <a:ext cx="592931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A20961-3AAB-433D-B829-C41010CBC00E}"/>
              </a:ext>
            </a:extLst>
          </p:cNvPr>
          <p:cNvSpPr txBox="1"/>
          <p:nvPr/>
        </p:nvSpPr>
        <p:spPr>
          <a:xfrm>
            <a:off x="2286572" y="2211505"/>
            <a:ext cx="457085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n-ea"/>
                <a:cs typeface="+mn-cs"/>
              </a:rPr>
              <a:t>Process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Transform of incoming data flow(s) to outgoing flow(s).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C69AF3-042A-4A4B-9A21-631CFE540B9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734" y="3219688"/>
            <a:ext cx="585788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6A940B2-DC1F-423E-9704-DCA1963029B9}"/>
              </a:ext>
            </a:extLst>
          </p:cNvPr>
          <p:cNvSpPr txBox="1"/>
          <p:nvPr/>
        </p:nvSpPr>
        <p:spPr>
          <a:xfrm>
            <a:off x="2286572" y="3061610"/>
            <a:ext cx="4570857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n-ea"/>
                <a:cs typeface="+mn-cs"/>
              </a:rPr>
              <a:t>Data Flow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Movement of data in the system.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EF5BEE-4B22-4F82-952D-C454D3FB4F0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589" y="4075510"/>
            <a:ext cx="650081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5A12B93-F49D-4C4B-8571-0ACA3BDE6FF7}"/>
              </a:ext>
            </a:extLst>
          </p:cNvPr>
          <p:cNvSpPr txBox="1"/>
          <p:nvPr/>
        </p:nvSpPr>
        <p:spPr>
          <a:xfrm>
            <a:off x="2286571" y="3855310"/>
            <a:ext cx="5867591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n-ea"/>
                <a:cs typeface="+mn-cs"/>
              </a:rPr>
              <a:t>Data Store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Data repositories for data that are not moving. It may be as simple as a buffer or a queue or a s sophisticated as a relational database.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15ABDF2-C58D-47CF-880F-2EE00337492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734" y="5046964"/>
            <a:ext cx="585788" cy="56435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7930F18-C26C-4166-88CC-4702C227E08F}"/>
              </a:ext>
            </a:extLst>
          </p:cNvPr>
          <p:cNvSpPr txBox="1"/>
          <p:nvPr/>
        </p:nvSpPr>
        <p:spPr>
          <a:xfrm>
            <a:off x="2286572" y="5106427"/>
            <a:ext cx="457085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n-ea"/>
                <a:cs typeface="+mn-cs"/>
              </a:rPr>
              <a:t>External Entity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Sources of destinations outside the specified system boundary. </a:t>
            </a:r>
          </a:p>
        </p:txBody>
      </p:sp>
    </p:spTree>
    <p:extLst>
      <p:ext uri="{BB962C8B-B14F-4D97-AF65-F5344CB8AC3E}">
        <p14:creationId xmlns:p14="http://schemas.microsoft.com/office/powerpoint/2010/main" val="7258497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25" b="1" dirty="0">
                <a:solidFill>
                  <a:srgbClr val="FF0000"/>
                </a:solidFill>
              </a:rPr>
              <a:t>Gane and Sarson Symbol vs DeMarco and Yourdon Symbol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5D9EE5F-9E4C-4F7D-854D-1F634DF4C3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75097" y="1919527"/>
            <a:ext cx="3455956" cy="38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793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Relationship</a:t>
            </a:r>
            <a:endParaRPr lang="en-US" b="1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FB03FD-4724-4877-9895-EEBD51181F18}"/>
              </a:ext>
            </a:extLst>
          </p:cNvPr>
          <p:cNvSpPr txBox="1"/>
          <p:nvPr/>
        </p:nvSpPr>
        <p:spPr>
          <a:xfrm>
            <a:off x="628650" y="2013734"/>
            <a:ext cx="7569518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The DFD may be used for any level of data abstraction. </a:t>
            </a:r>
          </a:p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DFD can be partitioned into levels. Each level has more information flow and data functional details than the previous level.</a:t>
            </a:r>
          </a:p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100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1281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Context Diagram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FB03FD-4724-4877-9895-EEBD51181F18}"/>
              </a:ext>
            </a:extLst>
          </p:cNvPr>
          <p:cNvSpPr txBox="1"/>
          <p:nvPr/>
        </p:nvSpPr>
        <p:spPr>
          <a:xfrm>
            <a:off x="628650" y="2013734"/>
            <a:ext cx="75695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n-ea"/>
                <a:cs typeface="+mn-cs"/>
              </a:rPr>
              <a:t>Highest level is Context Diagram:</a:t>
            </a:r>
          </a:p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b="1" dirty="0">
              <a:solidFill>
                <a:prstClr val="black"/>
              </a:solidFill>
              <a:highlight>
                <a:srgbClr val="FFFF00"/>
              </a:highlight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1 bubble (process) represents the entire system.</a:t>
            </a: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Data arrows show input and output.</a:t>
            </a: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Data Stores NOT shown. They are within the system</a:t>
            </a:r>
            <a:r>
              <a:rPr lang="en-US" i="1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46100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Context Diagram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05ABE-1F03-4A0C-A763-D7D772CB09E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524" y="2125266"/>
            <a:ext cx="4114800" cy="308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255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Level 0 DFD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FB03FD-4724-4877-9895-EEBD51181F18}"/>
              </a:ext>
            </a:extLst>
          </p:cNvPr>
          <p:cNvSpPr txBox="1"/>
          <p:nvPr/>
        </p:nvSpPr>
        <p:spPr>
          <a:xfrm>
            <a:off x="628650" y="2013734"/>
            <a:ext cx="75695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n-ea"/>
                <a:cs typeface="+mn-cs"/>
              </a:rPr>
              <a:t>Next Level is Level 0 DFD:</a:t>
            </a:r>
          </a:p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b="1" dirty="0">
              <a:solidFill>
                <a:prstClr val="black"/>
              </a:solidFill>
              <a:highlight>
                <a:srgbClr val="FFFF00"/>
              </a:highlight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Level 0 DFD must balance with the context diagram it describes.</a:t>
            </a: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Input going into a process are different from outputs leaving the process.</a:t>
            </a: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Data stores are first shown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3580139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Level 0 DFD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FB9F8-FDAF-45D4-B676-F8602A7865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057400"/>
            <a:ext cx="4114800" cy="308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78782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Level 1 DFD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FB03FD-4724-4877-9895-EEBD51181F18}"/>
              </a:ext>
            </a:extLst>
          </p:cNvPr>
          <p:cNvSpPr txBox="1"/>
          <p:nvPr/>
        </p:nvSpPr>
        <p:spPr>
          <a:xfrm>
            <a:off x="628650" y="2013734"/>
            <a:ext cx="756951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highlight>
                  <a:srgbClr val="FFFF00"/>
                </a:highlight>
                <a:latin typeface="Calibri Light" panose="020F0302020204030204"/>
                <a:ea typeface="+mn-ea"/>
                <a:cs typeface="+mn-cs"/>
              </a:rPr>
              <a:t>Next level is Level 1 DFD:</a:t>
            </a:r>
          </a:p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b="1" dirty="0">
              <a:solidFill>
                <a:prstClr val="black"/>
              </a:solidFill>
              <a:highlight>
                <a:srgbClr val="FFFF00"/>
              </a:highlight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Level 1 DFD must balance with the Level 0 it describes.</a:t>
            </a: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Input going into a process are different from outputs leaving the process.</a:t>
            </a: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  <a:p>
            <a:pPr marL="685800" lvl="1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Continue to show data stores.</a:t>
            </a:r>
          </a:p>
        </p:txBody>
      </p:sp>
    </p:spTree>
    <p:extLst>
      <p:ext uri="{BB962C8B-B14F-4D97-AF65-F5344CB8AC3E}">
        <p14:creationId xmlns:p14="http://schemas.microsoft.com/office/powerpoint/2010/main" val="38556564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Level 1 DFD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CD5F4-5DDB-4D8E-8427-E25B025B6E1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283714"/>
            <a:ext cx="4114800" cy="308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4856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Lemonade System Example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ABCB61-2005-4279-BCA8-150A48047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684" y="2992056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716" rIns="13716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0.0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Lemonade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4299C-E0B6-4FD8-B7FA-7472680245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9884" y="2992056"/>
            <a:ext cx="685800" cy="6858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EMPLOYEE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DC1975-6E22-4092-9D5E-FB6EBF24DB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2334" y="2992056"/>
            <a:ext cx="685800" cy="6858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CUSTOMER</a:t>
            </a:r>
          </a:p>
        </p:txBody>
      </p:sp>
      <p:cxnSp>
        <p:nvCxnSpPr>
          <p:cNvPr id="9" name="AutoShape 7">
            <a:extLst>
              <a:ext uri="{FF2B5EF4-FFF2-40B4-BE49-F238E27FC236}">
                <a16:creationId xmlns:a16="http://schemas.microsoft.com/office/drawing/2014/main" id="{5F5A321E-16DA-4E27-9C3F-725E3C463B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58334" y="3534981"/>
            <a:ext cx="900113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" name="Text Box 8">
            <a:extLst>
              <a:ext uri="{FF2B5EF4-FFF2-40B4-BE49-F238E27FC236}">
                <a16:creationId xmlns:a16="http://schemas.microsoft.com/office/drawing/2014/main" id="{5B716B40-3D2F-4019-B2C0-FE2C2487C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035" y="3363531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</a:t>
            </a:r>
          </a:p>
        </p:txBody>
      </p:sp>
      <p:cxnSp>
        <p:nvCxnSpPr>
          <p:cNvPr id="11" name="AutoShape 9">
            <a:extLst>
              <a:ext uri="{FF2B5EF4-FFF2-40B4-BE49-F238E27FC236}">
                <a16:creationId xmlns:a16="http://schemas.microsoft.com/office/drawing/2014/main" id="{1B4AE463-8E75-4A64-879B-DE84B13B93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65278" y="3563556"/>
            <a:ext cx="957263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none" w="lg" len="sm"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" name="Text Box 10">
            <a:extLst>
              <a:ext uri="{FF2B5EF4-FFF2-40B4-BE49-F238E27FC236}">
                <a16:creationId xmlns:a16="http://schemas.microsoft.com/office/drawing/2014/main" id="{0398DF59-C40A-45C6-95EF-29FE28BE5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835" y="3534981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</a:t>
            </a:r>
          </a:p>
        </p:txBody>
      </p:sp>
      <p:cxnSp>
        <p:nvCxnSpPr>
          <p:cNvPr id="13" name="AutoShape 11">
            <a:extLst>
              <a:ext uri="{FF2B5EF4-FFF2-40B4-BE49-F238E27FC236}">
                <a16:creationId xmlns:a16="http://schemas.microsoft.com/office/drawing/2014/main" id="{7348C208-66BF-4456-B101-5067137FBB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65278" y="3077781"/>
            <a:ext cx="957263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" name="Text Box 12">
            <a:extLst>
              <a:ext uri="{FF2B5EF4-FFF2-40B4-BE49-F238E27FC236}">
                <a16:creationId xmlns:a16="http://schemas.microsoft.com/office/drawing/2014/main" id="{9BA04D58-BF0B-4E46-BE51-53AFAD8EF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835" y="3049206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Order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2B8F1DB1-ED0A-4673-986E-125C90DA40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9684" y="4306506"/>
            <a:ext cx="685800" cy="6858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VENDOR</a:t>
            </a:r>
          </a:p>
        </p:txBody>
      </p:sp>
      <p:cxnSp>
        <p:nvCxnSpPr>
          <p:cNvPr id="16" name="AutoShape 19">
            <a:extLst>
              <a:ext uri="{FF2B5EF4-FFF2-40B4-BE49-F238E27FC236}">
                <a16:creationId xmlns:a16="http://schemas.microsoft.com/office/drawing/2014/main" id="{0C01732D-F498-48A8-AFEA-F1B6F13FD4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01134" y="3627850"/>
            <a:ext cx="0" cy="61436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7" name="AutoShape 20">
            <a:extLst>
              <a:ext uri="{FF2B5EF4-FFF2-40B4-BE49-F238E27FC236}">
                <a16:creationId xmlns:a16="http://schemas.microsoft.com/office/drawing/2014/main" id="{1DC797F9-7D2D-4142-A30C-30F7A74D0804}"/>
              </a:ext>
            </a:extLst>
          </p:cNvPr>
          <p:cNvCxnSpPr>
            <a:cxnSpLocks noChangeShapeType="1"/>
            <a:stCxn id="5" idx="4"/>
            <a:endCxn id="15" idx="0"/>
          </p:cNvCxnSpPr>
          <p:nvPr/>
        </p:nvCxnSpPr>
        <p:spPr bwMode="auto">
          <a:xfrm>
            <a:off x="4672584" y="3685000"/>
            <a:ext cx="0" cy="61436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" name="Text Box 21">
            <a:extLst>
              <a:ext uri="{FF2B5EF4-FFF2-40B4-BE49-F238E27FC236}">
                <a16:creationId xmlns:a16="http://schemas.microsoft.com/office/drawing/2014/main" id="{8CD4B002-7710-4893-B2E3-F9DF667B7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8128" y="3906456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</a:t>
            </a: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7EF27792-BCD0-4609-8342-118BB068F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035" y="4020756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Purchase Order</a:t>
            </a: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966BB505-CA4E-4561-B6FE-C8A76AD2F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328" y="3201606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Production Schedule </a:t>
            </a:r>
          </a:p>
        </p:txBody>
      </p:sp>
      <p:cxnSp>
        <p:nvCxnSpPr>
          <p:cNvPr id="21" name="AutoShape 24">
            <a:extLst>
              <a:ext uri="{FF2B5EF4-FFF2-40B4-BE49-F238E27FC236}">
                <a16:creationId xmlns:a16="http://schemas.microsoft.com/office/drawing/2014/main" id="{37941147-B80B-4DBB-A45A-81C59C270C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15484" y="3230181"/>
            <a:ext cx="900113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" name="AutoShape 25">
            <a:extLst>
              <a:ext uri="{FF2B5EF4-FFF2-40B4-BE49-F238E27FC236}">
                <a16:creationId xmlns:a16="http://schemas.microsoft.com/office/drawing/2014/main" id="{4BF93452-7BED-4CD8-9BC6-9338DA92B44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44034" y="3620706"/>
            <a:ext cx="0" cy="61436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" name="Text Box 26">
            <a:extLst>
              <a:ext uri="{FF2B5EF4-FFF2-40B4-BE49-F238E27FC236}">
                <a16:creationId xmlns:a16="http://schemas.microsoft.com/office/drawing/2014/main" id="{C91EA29B-5244-4161-A883-3571B9DD7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4582" y="3735006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Received Goods</a:t>
            </a:r>
          </a:p>
        </p:txBody>
      </p:sp>
      <p:sp>
        <p:nvSpPr>
          <p:cNvPr id="24" name="Text Box 27">
            <a:extLst>
              <a:ext uri="{FF2B5EF4-FFF2-40B4-BE49-F238E27FC236}">
                <a16:creationId xmlns:a16="http://schemas.microsoft.com/office/drawing/2014/main" id="{8C74F936-1F84-4C0F-A0C1-434671CBF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1185" y="3592131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Time Worked</a:t>
            </a:r>
          </a:p>
        </p:txBody>
      </p:sp>
      <p:cxnSp>
        <p:nvCxnSpPr>
          <p:cNvPr id="25" name="AutoShape 28">
            <a:extLst>
              <a:ext uri="{FF2B5EF4-FFF2-40B4-BE49-F238E27FC236}">
                <a16:creationId xmlns:a16="http://schemas.microsoft.com/office/drawing/2014/main" id="{7FBF5539-44E2-4B56-BD6B-189128FE0B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08340" y="3620706"/>
            <a:ext cx="900113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" name="AutoShape 29">
            <a:extLst>
              <a:ext uri="{FF2B5EF4-FFF2-40B4-BE49-F238E27FC236}">
                <a16:creationId xmlns:a16="http://schemas.microsoft.com/office/drawing/2014/main" id="{1D7865D7-EEA0-4F13-9FC1-EEADC05DF3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58334" y="3115881"/>
            <a:ext cx="900113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" name="Text Box 30">
            <a:extLst>
              <a:ext uri="{FF2B5EF4-FFF2-40B4-BE49-F238E27FC236}">
                <a16:creationId xmlns:a16="http://schemas.microsoft.com/office/drawing/2014/main" id="{97F592BD-8735-4D6D-B01B-833414AEE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035" y="2944431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Sales Forecast</a:t>
            </a:r>
          </a:p>
        </p:txBody>
      </p:sp>
      <p:cxnSp>
        <p:nvCxnSpPr>
          <p:cNvPr id="28" name="AutoShape 32">
            <a:extLst>
              <a:ext uri="{FF2B5EF4-FFF2-40B4-BE49-F238E27FC236}">
                <a16:creationId xmlns:a16="http://schemas.microsoft.com/office/drawing/2014/main" id="{D9F4A1FC-87BC-4D7F-93EF-2EBC8025D758}"/>
              </a:ext>
            </a:extLst>
          </p:cNvPr>
          <p:cNvCxnSpPr>
            <a:cxnSpLocks noChangeShapeType="1"/>
            <a:stCxn id="5" idx="2"/>
            <a:endCxn id="7" idx="3"/>
          </p:cNvCxnSpPr>
          <p:nvPr/>
        </p:nvCxnSpPr>
        <p:spPr bwMode="auto">
          <a:xfrm flipH="1">
            <a:off x="3365278" y="3334956"/>
            <a:ext cx="957263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" name="Text Box 33">
            <a:extLst>
              <a:ext uri="{FF2B5EF4-FFF2-40B4-BE49-F238E27FC236}">
                <a16:creationId xmlns:a16="http://schemas.microsoft.com/office/drawing/2014/main" id="{EFF35035-CC7B-4339-98F0-DDE39AEE4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835" y="3334956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 Served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DD8AF3-41D6-4600-BF3A-A85B9D425602}"/>
              </a:ext>
            </a:extLst>
          </p:cNvPr>
          <p:cNvSpPr txBox="1"/>
          <p:nvPr/>
        </p:nvSpPr>
        <p:spPr>
          <a:xfrm>
            <a:off x="628650" y="2013735"/>
            <a:ext cx="75695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Start with Context Level DFD</a:t>
            </a: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1077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Lemonade System Example (cont’d)</a:t>
            </a:r>
          </a:p>
        </p:txBody>
      </p:sp>
      <p:sp>
        <p:nvSpPr>
          <p:cNvPr id="6" name="Oval 10">
            <a:extLst>
              <a:ext uri="{FF2B5EF4-FFF2-40B4-BE49-F238E27FC236}">
                <a16:creationId xmlns:a16="http://schemas.microsoft.com/office/drawing/2014/main" id="{792C5089-E16C-4A91-A168-8EA2B93BE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3388995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716" rIns="13716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2.0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Production</a:t>
            </a:r>
          </a:p>
        </p:txBody>
      </p:sp>
      <p:cxnSp>
        <p:nvCxnSpPr>
          <p:cNvPr id="7" name="AutoShape 11">
            <a:extLst>
              <a:ext uri="{FF2B5EF4-FFF2-40B4-BE49-F238E27FC236}">
                <a16:creationId xmlns:a16="http://schemas.microsoft.com/office/drawing/2014/main" id="{A3C847B0-7605-4DE9-83EE-F62D76C77409}"/>
              </a:ext>
            </a:extLst>
          </p:cNvPr>
          <p:cNvCxnSpPr>
            <a:cxnSpLocks noChangeShapeType="1"/>
            <a:endCxn id="11" idx="3"/>
          </p:cNvCxnSpPr>
          <p:nvPr/>
        </p:nvCxnSpPr>
        <p:spPr bwMode="auto">
          <a:xfrm flipV="1">
            <a:off x="3264694" y="3038952"/>
            <a:ext cx="1064419" cy="692944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" name="Rectangle 12">
            <a:extLst>
              <a:ext uri="{FF2B5EF4-FFF2-40B4-BE49-F238E27FC236}">
                <a16:creationId xmlns:a16="http://schemas.microsoft.com/office/drawing/2014/main" id="{5B00800F-E2E7-49C8-8140-03D87A2F43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29300" y="3388995"/>
            <a:ext cx="685800" cy="6858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EMPLOYEE</a:t>
            </a:r>
          </a:p>
        </p:txBody>
      </p:sp>
      <p:cxnSp>
        <p:nvCxnSpPr>
          <p:cNvPr id="9" name="AutoShape 13">
            <a:extLst>
              <a:ext uri="{FF2B5EF4-FFF2-40B4-BE49-F238E27FC236}">
                <a16:creationId xmlns:a16="http://schemas.microsoft.com/office/drawing/2014/main" id="{6A0B7FDA-F0DA-45B2-86B6-DF8FDC5B7311}"/>
              </a:ext>
            </a:extLst>
          </p:cNvPr>
          <p:cNvCxnSpPr>
            <a:cxnSpLocks noChangeShapeType="1"/>
            <a:stCxn id="8" idx="1"/>
            <a:endCxn id="6" idx="6"/>
          </p:cNvCxnSpPr>
          <p:nvPr/>
        </p:nvCxnSpPr>
        <p:spPr bwMode="auto">
          <a:xfrm flipH="1">
            <a:off x="4922044" y="3731895"/>
            <a:ext cx="900113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" name="Text Box 14">
            <a:extLst>
              <a:ext uri="{FF2B5EF4-FFF2-40B4-BE49-F238E27FC236}">
                <a16:creationId xmlns:a16="http://schemas.microsoft.com/office/drawing/2014/main" id="{8BAF7A42-4250-4B42-943C-76FDF4F98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044" y="3646170"/>
            <a:ext cx="800100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Production</a:t>
            </a:r>
            <a:b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</a:b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 Schedule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96F2919E-B782-45D1-B870-42D579442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2446020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716" rIns="13716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1.0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Sale</a:t>
            </a: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D6FBD056-1CF2-4CCB-AE7F-4E4C37702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4217670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3.0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Procure-ment</a:t>
            </a:r>
          </a:p>
        </p:txBody>
      </p:sp>
      <p:cxnSp>
        <p:nvCxnSpPr>
          <p:cNvPr id="13" name="AutoShape 17">
            <a:extLst>
              <a:ext uri="{FF2B5EF4-FFF2-40B4-BE49-F238E27FC236}">
                <a16:creationId xmlns:a16="http://schemas.microsoft.com/office/drawing/2014/main" id="{1C8940B8-0B23-47DB-B0C1-57E831ABAD7D}"/>
              </a:ext>
            </a:extLst>
          </p:cNvPr>
          <p:cNvCxnSpPr>
            <a:cxnSpLocks noChangeShapeType="1"/>
            <a:stCxn id="41" idx="6"/>
            <a:endCxn id="11" idx="2"/>
          </p:cNvCxnSpPr>
          <p:nvPr/>
        </p:nvCxnSpPr>
        <p:spPr bwMode="auto">
          <a:xfrm flipV="1">
            <a:off x="3264694" y="2788920"/>
            <a:ext cx="957263" cy="71437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" name="AutoShape 18">
            <a:extLst>
              <a:ext uri="{FF2B5EF4-FFF2-40B4-BE49-F238E27FC236}">
                <a16:creationId xmlns:a16="http://schemas.microsoft.com/office/drawing/2014/main" id="{21A6511C-6191-4053-9845-5050BBA7B0F1}"/>
              </a:ext>
            </a:extLst>
          </p:cNvPr>
          <p:cNvCxnSpPr>
            <a:cxnSpLocks noChangeShapeType="1"/>
            <a:stCxn id="11" idx="6"/>
            <a:endCxn id="43" idx="2"/>
          </p:cNvCxnSpPr>
          <p:nvPr/>
        </p:nvCxnSpPr>
        <p:spPr bwMode="auto">
          <a:xfrm>
            <a:off x="4922044" y="2788920"/>
            <a:ext cx="876300" cy="71437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" name="AutoShape 19">
            <a:extLst>
              <a:ext uri="{FF2B5EF4-FFF2-40B4-BE49-F238E27FC236}">
                <a16:creationId xmlns:a16="http://schemas.microsoft.com/office/drawing/2014/main" id="{E0C8915B-56A0-44B0-B0B5-5DA7B15DDA59}"/>
              </a:ext>
            </a:extLst>
          </p:cNvPr>
          <p:cNvCxnSpPr>
            <a:cxnSpLocks noChangeShapeType="1"/>
            <a:stCxn id="11" idx="4"/>
            <a:endCxn id="6" idx="0"/>
          </p:cNvCxnSpPr>
          <p:nvPr/>
        </p:nvCxnSpPr>
        <p:spPr bwMode="auto">
          <a:xfrm>
            <a:off x="4572000" y="3138964"/>
            <a:ext cx="0" cy="242888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Text Box 20">
            <a:extLst>
              <a:ext uri="{FF2B5EF4-FFF2-40B4-BE49-F238E27FC236}">
                <a16:creationId xmlns:a16="http://schemas.microsoft.com/office/drawing/2014/main" id="{DCDC3970-E4FB-43C4-B14F-A08A28BD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2903220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Sales Forecast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844F907C-6EFA-4AE1-8273-E24A01D2F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6213" y="3160395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 Ordered</a:t>
            </a:r>
          </a:p>
        </p:txBody>
      </p:sp>
      <p:cxnSp>
        <p:nvCxnSpPr>
          <p:cNvPr id="18" name="AutoShape 22">
            <a:extLst>
              <a:ext uri="{FF2B5EF4-FFF2-40B4-BE49-F238E27FC236}">
                <a16:creationId xmlns:a16="http://schemas.microsoft.com/office/drawing/2014/main" id="{4BF4E4CB-6552-4A8B-9F5F-DAE58968E608}"/>
              </a:ext>
            </a:extLst>
          </p:cNvPr>
          <p:cNvCxnSpPr>
            <a:cxnSpLocks noChangeShapeType="1"/>
            <a:stCxn id="42" idx="2"/>
            <a:endCxn id="12" idx="6"/>
          </p:cNvCxnSpPr>
          <p:nvPr/>
        </p:nvCxnSpPr>
        <p:spPr bwMode="auto">
          <a:xfrm flipH="1">
            <a:off x="4922044" y="3960495"/>
            <a:ext cx="914400" cy="60007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99972B3D-CC3C-4B40-8595-F8CABDF1F8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8894" y="3388995"/>
            <a:ext cx="685800" cy="6858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CUSTOMER</a:t>
            </a:r>
          </a:p>
        </p:txBody>
      </p:sp>
      <p:cxnSp>
        <p:nvCxnSpPr>
          <p:cNvPr id="20" name="AutoShape 24">
            <a:extLst>
              <a:ext uri="{FF2B5EF4-FFF2-40B4-BE49-F238E27FC236}">
                <a16:creationId xmlns:a16="http://schemas.microsoft.com/office/drawing/2014/main" id="{3CC4461B-A34A-4FD5-A099-668B72F29191}"/>
              </a:ext>
            </a:extLst>
          </p:cNvPr>
          <p:cNvCxnSpPr>
            <a:cxnSpLocks noChangeShapeType="1"/>
            <a:stCxn id="38" idx="7"/>
            <a:endCxn id="8" idx="2"/>
          </p:cNvCxnSpPr>
          <p:nvPr/>
        </p:nvCxnSpPr>
        <p:spPr bwMode="auto">
          <a:xfrm flipV="1">
            <a:off x="4822032" y="4081939"/>
            <a:ext cx="1350169" cy="11430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1" name="Text Box 25">
            <a:extLst>
              <a:ext uri="{FF2B5EF4-FFF2-40B4-BE49-F238E27FC236}">
                <a16:creationId xmlns:a16="http://schemas.microsoft.com/office/drawing/2014/main" id="{27B69B2C-BEBA-4F30-94DE-32199FE88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538" y="4903470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</a:t>
            </a:r>
          </a:p>
        </p:txBody>
      </p:sp>
      <p:cxnSp>
        <p:nvCxnSpPr>
          <p:cNvPr id="22" name="AutoShape 26">
            <a:extLst>
              <a:ext uri="{FF2B5EF4-FFF2-40B4-BE49-F238E27FC236}">
                <a16:creationId xmlns:a16="http://schemas.microsoft.com/office/drawing/2014/main" id="{100667ED-DF83-4AA4-AADB-DBB014033729}"/>
              </a:ext>
            </a:extLst>
          </p:cNvPr>
          <p:cNvCxnSpPr>
            <a:cxnSpLocks noChangeShapeType="1"/>
            <a:stCxn id="12" idx="0"/>
            <a:endCxn id="6" idx="4"/>
          </p:cNvCxnSpPr>
          <p:nvPr/>
        </p:nvCxnSpPr>
        <p:spPr bwMode="auto">
          <a:xfrm flipV="1">
            <a:off x="4572000" y="4081939"/>
            <a:ext cx="0" cy="128588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none" w="lg" len="sm"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" name="Text Box 27">
            <a:extLst>
              <a:ext uri="{FF2B5EF4-FFF2-40B4-BE49-F238E27FC236}">
                <a16:creationId xmlns:a16="http://schemas.microsoft.com/office/drawing/2014/main" id="{A6C84481-3C90-490B-804B-FBB57372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894" y="3360420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</a:t>
            </a:r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4159128B-5407-4BFD-A599-B6A3ECEDA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194" y="2931795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Customer Order</a:t>
            </a:r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D037D5EB-ED58-495B-A038-6F0C78CE42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8894" y="4217670"/>
            <a:ext cx="685800" cy="6858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VENDOR</a:t>
            </a:r>
          </a:p>
        </p:txBody>
      </p:sp>
      <p:cxnSp>
        <p:nvCxnSpPr>
          <p:cNvPr id="26" name="AutoShape 30">
            <a:extLst>
              <a:ext uri="{FF2B5EF4-FFF2-40B4-BE49-F238E27FC236}">
                <a16:creationId xmlns:a16="http://schemas.microsoft.com/office/drawing/2014/main" id="{D6B3007E-2B29-4DDC-AAB4-FC4BDF6BFA9F}"/>
              </a:ext>
            </a:extLst>
          </p:cNvPr>
          <p:cNvCxnSpPr>
            <a:cxnSpLocks noChangeShapeType="1"/>
            <a:stCxn id="12" idx="3"/>
            <a:endCxn id="40" idx="6"/>
          </p:cNvCxnSpPr>
          <p:nvPr/>
        </p:nvCxnSpPr>
        <p:spPr bwMode="auto">
          <a:xfrm flipH="1" flipV="1">
            <a:off x="3264694" y="4808221"/>
            <a:ext cx="1064419" cy="2381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" name="AutoShape 31">
            <a:extLst>
              <a:ext uri="{FF2B5EF4-FFF2-40B4-BE49-F238E27FC236}">
                <a16:creationId xmlns:a16="http://schemas.microsoft.com/office/drawing/2014/main" id="{01641476-E56C-45C6-BEC0-C45E4C0D3A6A}"/>
              </a:ext>
            </a:extLst>
          </p:cNvPr>
          <p:cNvCxnSpPr>
            <a:cxnSpLocks noChangeShapeType="1"/>
            <a:stCxn id="12" idx="1"/>
            <a:endCxn id="39" idx="6"/>
          </p:cNvCxnSpPr>
          <p:nvPr/>
        </p:nvCxnSpPr>
        <p:spPr bwMode="auto">
          <a:xfrm flipH="1">
            <a:off x="3264694" y="4310539"/>
            <a:ext cx="1064419" cy="2381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" name="Text Box 32">
            <a:extLst>
              <a:ext uri="{FF2B5EF4-FFF2-40B4-BE49-F238E27FC236}">
                <a16:creationId xmlns:a16="http://schemas.microsoft.com/office/drawing/2014/main" id="{C7240AF5-DFF0-49FC-86F0-3D0BC2A55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6138" y="4789170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8C341FD7-2A99-4D44-A154-56747E1AF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6094" y="4531995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Purchase Order</a:t>
            </a:r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19C5618B-C4CA-437C-97DF-3F2223918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144" y="4531995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Order</a:t>
            </a:r>
            <a:b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</a:b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   Decisions</a:t>
            </a:r>
          </a:p>
        </p:txBody>
      </p:sp>
      <p:cxnSp>
        <p:nvCxnSpPr>
          <p:cNvPr id="31" name="AutoShape 35">
            <a:extLst>
              <a:ext uri="{FF2B5EF4-FFF2-40B4-BE49-F238E27FC236}">
                <a16:creationId xmlns:a16="http://schemas.microsoft.com/office/drawing/2014/main" id="{DC22E816-070F-4145-AB58-5475CE754CCA}"/>
              </a:ext>
            </a:extLst>
          </p:cNvPr>
          <p:cNvCxnSpPr>
            <a:cxnSpLocks noChangeShapeType="1"/>
            <a:stCxn id="12" idx="2"/>
            <a:endCxn id="25" idx="3"/>
          </p:cNvCxnSpPr>
          <p:nvPr/>
        </p:nvCxnSpPr>
        <p:spPr bwMode="auto">
          <a:xfrm flipH="1">
            <a:off x="3271838" y="4560570"/>
            <a:ext cx="950119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" name="Text Box 36">
            <a:extLst>
              <a:ext uri="{FF2B5EF4-FFF2-40B4-BE49-F238E27FC236}">
                <a16:creationId xmlns:a16="http://schemas.microsoft.com/office/drawing/2014/main" id="{DB8608D8-D409-4D6C-9EAA-F2A8E922B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4694" y="4112895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Received Goods</a:t>
            </a:r>
          </a:p>
        </p:txBody>
      </p:sp>
      <p:sp>
        <p:nvSpPr>
          <p:cNvPr id="33" name="Text Box 37">
            <a:extLst>
              <a:ext uri="{FF2B5EF4-FFF2-40B4-BE49-F238E27FC236}">
                <a16:creationId xmlns:a16="http://schemas.microsoft.com/office/drawing/2014/main" id="{BAE7B1BC-BD6B-4024-BBD3-7C6B7FCAD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388" y="4960620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Time Worked</a:t>
            </a:r>
          </a:p>
        </p:txBody>
      </p:sp>
      <p:cxnSp>
        <p:nvCxnSpPr>
          <p:cNvPr id="34" name="AutoShape 38">
            <a:extLst>
              <a:ext uri="{FF2B5EF4-FFF2-40B4-BE49-F238E27FC236}">
                <a16:creationId xmlns:a16="http://schemas.microsoft.com/office/drawing/2014/main" id="{22625EB9-09A7-4E6F-9878-A6C4C86ECFBD}"/>
              </a:ext>
            </a:extLst>
          </p:cNvPr>
          <p:cNvCxnSpPr>
            <a:cxnSpLocks noChangeShapeType="1"/>
            <a:stCxn id="38" idx="6"/>
            <a:endCxn id="44" idx="5"/>
          </p:cNvCxnSpPr>
          <p:nvPr/>
        </p:nvCxnSpPr>
        <p:spPr bwMode="auto">
          <a:xfrm flipV="1">
            <a:off x="4929187" y="4040268"/>
            <a:ext cx="1510904" cy="143470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" name="AutoShape 39">
            <a:extLst>
              <a:ext uri="{FF2B5EF4-FFF2-40B4-BE49-F238E27FC236}">
                <a16:creationId xmlns:a16="http://schemas.microsoft.com/office/drawing/2014/main" id="{2B7A1BBC-3D98-402D-B52A-47E8EE5715F4}"/>
              </a:ext>
            </a:extLst>
          </p:cNvPr>
          <p:cNvCxnSpPr>
            <a:cxnSpLocks noChangeShapeType="1"/>
            <a:stCxn id="6" idx="2"/>
            <a:endCxn id="19" idx="3"/>
          </p:cNvCxnSpPr>
          <p:nvPr/>
        </p:nvCxnSpPr>
        <p:spPr bwMode="auto">
          <a:xfrm flipH="1">
            <a:off x="3271838" y="3731895"/>
            <a:ext cx="950119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" name="Text Box 40">
            <a:extLst>
              <a:ext uri="{FF2B5EF4-FFF2-40B4-BE49-F238E27FC236}">
                <a16:creationId xmlns:a16="http://schemas.microsoft.com/office/drawing/2014/main" id="{4C967575-701B-48E9-8C85-DC4E6C778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4388" y="4055745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Inventory</a:t>
            </a:r>
          </a:p>
        </p:txBody>
      </p:sp>
      <p:sp>
        <p:nvSpPr>
          <p:cNvPr id="37" name="Text Box 41">
            <a:extLst>
              <a:ext uri="{FF2B5EF4-FFF2-40B4-BE49-F238E27FC236}">
                <a16:creationId xmlns:a16="http://schemas.microsoft.com/office/drawing/2014/main" id="{0EFE6D38-147B-496C-8DDE-BD5373449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544" y="3760470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 Served</a:t>
            </a:r>
          </a:p>
        </p:txBody>
      </p:sp>
      <p:sp>
        <p:nvSpPr>
          <p:cNvPr id="38" name="Oval 42">
            <a:extLst>
              <a:ext uri="{FF2B5EF4-FFF2-40B4-BE49-F238E27FC236}">
                <a16:creationId xmlns:a16="http://schemas.microsoft.com/office/drawing/2014/main" id="{0D141F3E-3FAF-4035-BEBB-349886E97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6244" y="5132070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4.0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Payroll</a:t>
            </a:r>
          </a:p>
        </p:txBody>
      </p:sp>
      <p:sp>
        <p:nvSpPr>
          <p:cNvPr id="39" name="Oval 43">
            <a:extLst>
              <a:ext uri="{FF2B5EF4-FFF2-40B4-BE49-F238E27FC236}">
                <a16:creationId xmlns:a16="http://schemas.microsoft.com/office/drawing/2014/main" id="{C4A4C011-7A64-49BA-A4A7-AE9D7393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244" y="4227195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44">
            <a:extLst>
              <a:ext uri="{FF2B5EF4-FFF2-40B4-BE49-F238E27FC236}">
                <a16:creationId xmlns:a16="http://schemas.microsoft.com/office/drawing/2014/main" id="{7FC6BFB9-27A6-41A2-A179-31E1642AB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244" y="4722495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5">
            <a:extLst>
              <a:ext uri="{FF2B5EF4-FFF2-40B4-BE49-F238E27FC236}">
                <a16:creationId xmlns:a16="http://schemas.microsoft.com/office/drawing/2014/main" id="{DDB874C2-00CB-44F0-B037-E89726E19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244" y="3417570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6">
            <a:extLst>
              <a:ext uri="{FF2B5EF4-FFF2-40B4-BE49-F238E27FC236}">
                <a16:creationId xmlns:a16="http://schemas.microsoft.com/office/drawing/2014/main" id="{A693AE1F-B02C-4CB0-9A41-CB28F06E2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6444" y="3874770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Oval 47">
            <a:extLst>
              <a:ext uri="{FF2B5EF4-FFF2-40B4-BE49-F238E27FC236}">
                <a16:creationId xmlns:a16="http://schemas.microsoft.com/office/drawing/2014/main" id="{64B08669-F8B6-417D-B5F9-26AD6FE69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344" y="3417570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8">
            <a:extLst>
              <a:ext uri="{FF2B5EF4-FFF2-40B4-BE49-F238E27FC236}">
                <a16:creationId xmlns:a16="http://schemas.microsoft.com/office/drawing/2014/main" id="{76CEA8B9-4B71-46A0-B2AB-7E9D87CFA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3644" y="3893820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16A850-6EA9-47D0-BE5A-362370A1097B}"/>
              </a:ext>
            </a:extLst>
          </p:cNvPr>
          <p:cNvSpPr txBox="1"/>
          <p:nvPr/>
        </p:nvSpPr>
        <p:spPr>
          <a:xfrm>
            <a:off x="628650" y="2013735"/>
            <a:ext cx="75695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Construct Level 0 DFD</a:t>
            </a: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2969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Lemonade System Example (cont’d)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16A850-6EA9-47D0-BE5A-362370A1097B}"/>
              </a:ext>
            </a:extLst>
          </p:cNvPr>
          <p:cNvSpPr txBox="1"/>
          <p:nvPr/>
        </p:nvSpPr>
        <p:spPr>
          <a:xfrm>
            <a:off x="628650" y="2013735"/>
            <a:ext cx="75695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Construct Level 1 DFD</a:t>
            </a: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AutoShape 10">
            <a:extLst>
              <a:ext uri="{FF2B5EF4-FFF2-40B4-BE49-F238E27FC236}">
                <a16:creationId xmlns:a16="http://schemas.microsoft.com/office/drawing/2014/main" id="{0E195EF4-F3CA-413B-A429-C3B5FE5A5202}"/>
              </a:ext>
            </a:extLst>
          </p:cNvPr>
          <p:cNvCxnSpPr>
            <a:cxnSpLocks noChangeShapeType="1"/>
            <a:stCxn id="63" idx="3"/>
            <a:endCxn id="47" idx="3"/>
          </p:cNvCxnSpPr>
          <p:nvPr/>
        </p:nvCxnSpPr>
        <p:spPr bwMode="auto">
          <a:xfrm flipV="1">
            <a:off x="4914900" y="4403693"/>
            <a:ext cx="271463" cy="434579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" name="Oval 11">
            <a:extLst>
              <a:ext uri="{FF2B5EF4-FFF2-40B4-BE49-F238E27FC236}">
                <a16:creationId xmlns:a16="http://schemas.microsoft.com/office/drawing/2014/main" id="{27B5AC65-DF98-40BA-BE8A-A220A7ACC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3810762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716" rIns="13716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1.3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Produce Sales Forecast</a:t>
            </a:r>
          </a:p>
        </p:txBody>
      </p:sp>
      <p:cxnSp>
        <p:nvCxnSpPr>
          <p:cNvPr id="48" name="AutoShape 12">
            <a:extLst>
              <a:ext uri="{FF2B5EF4-FFF2-40B4-BE49-F238E27FC236}">
                <a16:creationId xmlns:a16="http://schemas.microsoft.com/office/drawing/2014/main" id="{59E52E5D-FC59-4A76-9176-8494581F0962}"/>
              </a:ext>
            </a:extLst>
          </p:cNvPr>
          <p:cNvCxnSpPr>
            <a:cxnSpLocks noChangeShapeType="1"/>
            <a:stCxn id="47" idx="6"/>
            <a:endCxn id="50" idx="0"/>
          </p:cNvCxnSpPr>
          <p:nvPr/>
        </p:nvCxnSpPr>
        <p:spPr bwMode="auto">
          <a:xfrm>
            <a:off x="5779294" y="4153662"/>
            <a:ext cx="482204" cy="1714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" name="AutoShape 13">
            <a:extLst>
              <a:ext uri="{FF2B5EF4-FFF2-40B4-BE49-F238E27FC236}">
                <a16:creationId xmlns:a16="http://schemas.microsoft.com/office/drawing/2014/main" id="{D610D0FE-99D5-455D-90A8-0365001C6531}"/>
              </a:ext>
            </a:extLst>
          </p:cNvPr>
          <p:cNvCxnSpPr>
            <a:cxnSpLocks noChangeShapeType="1"/>
            <a:stCxn id="59" idx="3"/>
            <a:endCxn id="47" idx="1"/>
          </p:cNvCxnSpPr>
          <p:nvPr/>
        </p:nvCxnSpPr>
        <p:spPr bwMode="auto">
          <a:xfrm>
            <a:off x="4914900" y="3409522"/>
            <a:ext cx="271463" cy="494109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0" name="Text Box 14">
            <a:extLst>
              <a:ext uri="{FF2B5EF4-FFF2-40B4-BE49-F238E27FC236}">
                <a16:creationId xmlns:a16="http://schemas.microsoft.com/office/drawing/2014/main" id="{65D674C0-8C65-4DF2-9A2E-2493C01C4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994" y="4325112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Sales Forecast</a:t>
            </a:r>
          </a:p>
        </p:txBody>
      </p:sp>
      <p:sp>
        <p:nvSpPr>
          <p:cNvPr id="51" name="Text Box 15">
            <a:extLst>
              <a:ext uri="{FF2B5EF4-FFF2-40B4-BE49-F238E27FC236}">
                <a16:creationId xmlns:a16="http://schemas.microsoft.com/office/drawing/2014/main" id="{88E52D86-DAB3-4A44-8CC2-F144560FB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6" y="4296537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</a:t>
            </a:r>
          </a:p>
        </p:txBody>
      </p:sp>
      <p:sp>
        <p:nvSpPr>
          <p:cNvPr id="52" name="Oval 16">
            <a:extLst>
              <a:ext uri="{FF2B5EF4-FFF2-40B4-BE49-F238E27FC236}">
                <a16:creationId xmlns:a16="http://schemas.microsoft.com/office/drawing/2014/main" id="{865F7739-45B8-4ADF-B146-A67F1B5F6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753612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17">
            <a:extLst>
              <a:ext uri="{FF2B5EF4-FFF2-40B4-BE49-F238E27FC236}">
                <a16:creationId xmlns:a16="http://schemas.microsoft.com/office/drawing/2014/main" id="{67C16199-92B6-4557-81FC-5030C13B3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3753612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18">
            <a:extLst>
              <a:ext uri="{FF2B5EF4-FFF2-40B4-BE49-F238E27FC236}">
                <a16:creationId xmlns:a16="http://schemas.microsoft.com/office/drawing/2014/main" id="{4159116A-4551-4A72-A07C-020B19BC2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229862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Oval 20">
            <a:extLst>
              <a:ext uri="{FF2B5EF4-FFF2-40B4-BE49-F238E27FC236}">
                <a16:creationId xmlns:a16="http://schemas.microsoft.com/office/drawing/2014/main" id="{1692719B-3CB8-4E95-AA01-EF7D7D7A9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410712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1.1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Record Order</a:t>
            </a:r>
          </a:p>
        </p:txBody>
      </p:sp>
      <p:cxnSp>
        <p:nvCxnSpPr>
          <p:cNvPr id="56" name="AutoShape 21">
            <a:extLst>
              <a:ext uri="{FF2B5EF4-FFF2-40B4-BE49-F238E27FC236}">
                <a16:creationId xmlns:a16="http://schemas.microsoft.com/office/drawing/2014/main" id="{25FB3AD0-2889-46E6-8614-73C0D658434F}"/>
              </a:ext>
            </a:extLst>
          </p:cNvPr>
          <p:cNvCxnSpPr>
            <a:cxnSpLocks noChangeShapeType="1"/>
            <a:stCxn id="55" idx="6"/>
            <a:endCxn id="59" idx="1"/>
          </p:cNvCxnSpPr>
          <p:nvPr/>
        </p:nvCxnSpPr>
        <p:spPr bwMode="auto">
          <a:xfrm flipV="1">
            <a:off x="3893344" y="3409522"/>
            <a:ext cx="335756" cy="34409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" name="AutoShape 22">
            <a:extLst>
              <a:ext uri="{FF2B5EF4-FFF2-40B4-BE49-F238E27FC236}">
                <a16:creationId xmlns:a16="http://schemas.microsoft.com/office/drawing/2014/main" id="{377EF72E-DDCE-46B7-AF4D-6F7294F08F70}"/>
              </a:ext>
            </a:extLst>
          </p:cNvPr>
          <p:cNvCxnSpPr>
            <a:cxnSpLocks noChangeShapeType="1"/>
            <a:stCxn id="51" idx="2"/>
            <a:endCxn id="62" idx="2"/>
          </p:cNvCxnSpPr>
          <p:nvPr/>
        </p:nvCxnSpPr>
        <p:spPr bwMode="auto">
          <a:xfrm rot="16200000" flipH="1">
            <a:off x="2794993" y="4441198"/>
            <a:ext cx="342900" cy="453628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8" name="Text Box 23">
            <a:extLst>
              <a:ext uri="{FF2B5EF4-FFF2-40B4-BE49-F238E27FC236}">
                <a16:creationId xmlns:a16="http://schemas.microsoft.com/office/drawing/2014/main" id="{D6C82DC6-73DF-4A15-9924-0CC165E46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1" y="3067812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Customer Order</a:t>
            </a:r>
          </a:p>
        </p:txBody>
      </p:sp>
      <p:sp>
        <p:nvSpPr>
          <p:cNvPr id="59" name="Rectangle 25">
            <a:extLst>
              <a:ext uri="{FF2B5EF4-FFF2-40B4-BE49-F238E27FC236}">
                <a16:creationId xmlns:a16="http://schemas.microsoft.com/office/drawing/2014/main" id="{0935086F-78A1-4854-9EA8-2196608AE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3296412"/>
            <a:ext cx="685800" cy="22621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ORDER</a:t>
            </a:r>
          </a:p>
        </p:txBody>
      </p:sp>
      <p:cxnSp>
        <p:nvCxnSpPr>
          <p:cNvPr id="60" name="AutoShape 26">
            <a:extLst>
              <a:ext uri="{FF2B5EF4-FFF2-40B4-BE49-F238E27FC236}">
                <a16:creationId xmlns:a16="http://schemas.microsoft.com/office/drawing/2014/main" id="{5B67C801-B660-4B8D-90AE-616E03094CBD}"/>
              </a:ext>
            </a:extLst>
          </p:cNvPr>
          <p:cNvCxnSpPr>
            <a:cxnSpLocks noChangeShapeType="1"/>
            <a:stCxn id="59" idx="2"/>
            <a:endCxn id="62" idx="7"/>
          </p:cNvCxnSpPr>
          <p:nvPr/>
        </p:nvCxnSpPr>
        <p:spPr bwMode="auto">
          <a:xfrm flipH="1">
            <a:off x="3786187" y="3522631"/>
            <a:ext cx="785813" cy="10668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" name="AutoShape 27">
            <a:extLst>
              <a:ext uri="{FF2B5EF4-FFF2-40B4-BE49-F238E27FC236}">
                <a16:creationId xmlns:a16="http://schemas.microsoft.com/office/drawing/2014/main" id="{BB06E054-1A05-42A1-A338-C4F5A27226D1}"/>
              </a:ext>
            </a:extLst>
          </p:cNvPr>
          <p:cNvCxnSpPr>
            <a:cxnSpLocks noChangeShapeType="1"/>
            <a:stCxn id="58" idx="2"/>
            <a:endCxn id="55" idx="2"/>
          </p:cNvCxnSpPr>
          <p:nvPr/>
        </p:nvCxnSpPr>
        <p:spPr bwMode="auto">
          <a:xfrm rot="16200000" flipH="1">
            <a:off x="2852143" y="3412498"/>
            <a:ext cx="485775" cy="196453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2" name="Oval 28">
            <a:extLst>
              <a:ext uri="{FF2B5EF4-FFF2-40B4-BE49-F238E27FC236}">
                <a16:creationId xmlns:a16="http://schemas.microsoft.com/office/drawing/2014/main" id="{A5B0EA96-B150-49DC-A8DA-7C5033745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496562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1.2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Receive Payment</a:t>
            </a:r>
          </a:p>
        </p:txBody>
      </p:sp>
      <p:sp>
        <p:nvSpPr>
          <p:cNvPr id="63" name="Rectangle 29">
            <a:extLst>
              <a:ext uri="{FF2B5EF4-FFF2-40B4-BE49-F238E27FC236}">
                <a16:creationId xmlns:a16="http://schemas.microsoft.com/office/drawing/2014/main" id="{C7073AF4-1776-46DC-8ABC-07CF26AC8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4725162"/>
            <a:ext cx="685800" cy="22621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</a:t>
            </a:r>
          </a:p>
        </p:txBody>
      </p:sp>
      <p:cxnSp>
        <p:nvCxnSpPr>
          <p:cNvPr id="64" name="AutoShape 30">
            <a:extLst>
              <a:ext uri="{FF2B5EF4-FFF2-40B4-BE49-F238E27FC236}">
                <a16:creationId xmlns:a16="http://schemas.microsoft.com/office/drawing/2014/main" id="{4DBF41E2-3117-4FFC-8664-09E16D35A3A9}"/>
              </a:ext>
            </a:extLst>
          </p:cNvPr>
          <p:cNvCxnSpPr>
            <a:cxnSpLocks noChangeShapeType="1"/>
            <a:stCxn id="62" idx="6"/>
            <a:endCxn id="63" idx="1"/>
          </p:cNvCxnSpPr>
          <p:nvPr/>
        </p:nvCxnSpPr>
        <p:spPr bwMode="auto">
          <a:xfrm flipV="1">
            <a:off x="3893344" y="4838272"/>
            <a:ext cx="335756" cy="119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" name="Text Box 31">
            <a:extLst>
              <a:ext uri="{FF2B5EF4-FFF2-40B4-BE49-F238E27FC236}">
                <a16:creationId xmlns:a16="http://schemas.microsoft.com/office/drawing/2014/main" id="{9B80ED5F-96E4-43F1-9D22-78F248338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096512"/>
            <a:ext cx="9715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Severed Order</a:t>
            </a:r>
          </a:p>
        </p:txBody>
      </p:sp>
      <p:sp>
        <p:nvSpPr>
          <p:cNvPr id="66" name="Text Box 32">
            <a:extLst>
              <a:ext uri="{FF2B5EF4-FFF2-40B4-BE49-F238E27FC236}">
                <a16:creationId xmlns:a16="http://schemas.microsoft.com/office/drawing/2014/main" id="{FC33BD06-F1B5-48F1-BE59-70011F477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3239262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Request for Forecast</a:t>
            </a:r>
          </a:p>
        </p:txBody>
      </p:sp>
      <p:cxnSp>
        <p:nvCxnSpPr>
          <p:cNvPr id="67" name="AutoShape 33">
            <a:extLst>
              <a:ext uri="{FF2B5EF4-FFF2-40B4-BE49-F238E27FC236}">
                <a16:creationId xmlns:a16="http://schemas.microsoft.com/office/drawing/2014/main" id="{A5B6D603-5427-4375-A5C5-89D8937A8D9D}"/>
              </a:ext>
            </a:extLst>
          </p:cNvPr>
          <p:cNvCxnSpPr>
            <a:cxnSpLocks noChangeShapeType="1"/>
            <a:stCxn id="66" idx="2"/>
            <a:endCxn id="47" idx="0"/>
          </p:cNvCxnSpPr>
          <p:nvPr/>
        </p:nvCxnSpPr>
        <p:spPr bwMode="auto">
          <a:xfrm rot="5400000">
            <a:off x="5459611" y="3408926"/>
            <a:ext cx="364331" cy="425054"/>
          </a:xfrm>
          <a:prstGeom prst="curvedConnector3">
            <a:avLst>
              <a:gd name="adj1" fmla="val 50981"/>
            </a:avLst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" name="Rectangle 34">
            <a:extLst>
              <a:ext uri="{FF2B5EF4-FFF2-40B4-BE49-F238E27FC236}">
                <a16:creationId xmlns:a16="http://schemas.microsoft.com/office/drawing/2014/main" id="{129C3774-31BD-42A1-8C72-5A813E29E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2839212"/>
            <a:ext cx="685800" cy="22621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CUSTOMER</a:t>
            </a:r>
          </a:p>
        </p:txBody>
      </p:sp>
      <p:cxnSp>
        <p:nvCxnSpPr>
          <p:cNvPr id="69" name="AutoShape 35">
            <a:extLst>
              <a:ext uri="{FF2B5EF4-FFF2-40B4-BE49-F238E27FC236}">
                <a16:creationId xmlns:a16="http://schemas.microsoft.com/office/drawing/2014/main" id="{4B3CA718-5902-4785-9725-D34911CA3B78}"/>
              </a:ext>
            </a:extLst>
          </p:cNvPr>
          <p:cNvCxnSpPr>
            <a:cxnSpLocks noChangeShapeType="1"/>
            <a:stCxn id="68" idx="1"/>
            <a:endCxn id="55" idx="0"/>
          </p:cNvCxnSpPr>
          <p:nvPr/>
        </p:nvCxnSpPr>
        <p:spPr bwMode="auto">
          <a:xfrm flipH="1">
            <a:off x="3543300" y="2952322"/>
            <a:ext cx="685800" cy="451247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973148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Lemonade System Example (cont’d)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16A850-6EA9-47D0-BE5A-362370A1097B}"/>
              </a:ext>
            </a:extLst>
          </p:cNvPr>
          <p:cNvSpPr txBox="1"/>
          <p:nvPr/>
        </p:nvSpPr>
        <p:spPr>
          <a:xfrm>
            <a:off x="628650" y="2013735"/>
            <a:ext cx="75695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Construct Level 1 DFD (cont’d)</a:t>
            </a: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24981B54-E907-4703-AAC5-FA2CCA097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786" y="3334956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14">
            <a:extLst>
              <a:ext uri="{FF2B5EF4-FFF2-40B4-BE49-F238E27FC236}">
                <a16:creationId xmlns:a16="http://schemas.microsoft.com/office/drawing/2014/main" id="{952F247B-04A7-4E25-B3CC-EB0B055EF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074" y="2992056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2.1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Serve Product</a:t>
            </a:r>
          </a:p>
        </p:txBody>
      </p:sp>
      <p:cxnSp>
        <p:nvCxnSpPr>
          <p:cNvPr id="30" name="AutoShape 15">
            <a:extLst>
              <a:ext uri="{FF2B5EF4-FFF2-40B4-BE49-F238E27FC236}">
                <a16:creationId xmlns:a16="http://schemas.microsoft.com/office/drawing/2014/main" id="{F2E79ECB-2D11-494A-BCDB-2EEF12FA725A}"/>
              </a:ext>
            </a:extLst>
          </p:cNvPr>
          <p:cNvCxnSpPr>
            <a:cxnSpLocks noChangeShapeType="1"/>
            <a:stCxn id="33" idx="1"/>
            <a:endCxn id="29" idx="7"/>
          </p:cNvCxnSpPr>
          <p:nvPr/>
        </p:nvCxnSpPr>
        <p:spPr bwMode="auto">
          <a:xfrm flipH="1">
            <a:off x="4602861" y="2990866"/>
            <a:ext cx="542925" cy="94059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" name="AutoShape 16">
            <a:extLst>
              <a:ext uri="{FF2B5EF4-FFF2-40B4-BE49-F238E27FC236}">
                <a16:creationId xmlns:a16="http://schemas.microsoft.com/office/drawing/2014/main" id="{935CB27F-70FB-435C-B06A-5BD0F8C41CB6}"/>
              </a:ext>
            </a:extLst>
          </p:cNvPr>
          <p:cNvCxnSpPr>
            <a:cxnSpLocks noChangeShapeType="1"/>
            <a:endCxn id="36" idx="2"/>
          </p:cNvCxnSpPr>
          <p:nvPr/>
        </p:nvCxnSpPr>
        <p:spPr bwMode="auto">
          <a:xfrm rot="16200000" flipH="1">
            <a:off x="3670602" y="3967178"/>
            <a:ext cx="400050" cy="278606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952813C5-3CF5-4C42-9AA9-5AF0B5633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687" y="2649156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 Order</a:t>
            </a:r>
          </a:p>
        </p:txBody>
      </p:sp>
      <p:sp>
        <p:nvSpPr>
          <p:cNvPr id="33" name="Rectangle 18">
            <a:extLst>
              <a:ext uri="{FF2B5EF4-FFF2-40B4-BE49-F238E27FC236}">
                <a16:creationId xmlns:a16="http://schemas.microsoft.com/office/drawing/2014/main" id="{82ED88A5-EE47-4E1E-8760-04CC0F355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786" y="2877756"/>
            <a:ext cx="685800" cy="22621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ORDER</a:t>
            </a:r>
          </a:p>
        </p:txBody>
      </p:sp>
      <p:cxnSp>
        <p:nvCxnSpPr>
          <p:cNvPr id="34" name="AutoShape 19">
            <a:extLst>
              <a:ext uri="{FF2B5EF4-FFF2-40B4-BE49-F238E27FC236}">
                <a16:creationId xmlns:a16="http://schemas.microsoft.com/office/drawing/2014/main" id="{23C11A01-E9B0-41AE-A34F-1BAB27A31888}"/>
              </a:ext>
            </a:extLst>
          </p:cNvPr>
          <p:cNvCxnSpPr>
            <a:cxnSpLocks noChangeShapeType="1"/>
            <a:stCxn id="29" idx="5"/>
            <a:endCxn id="33" idx="2"/>
          </p:cNvCxnSpPr>
          <p:nvPr/>
        </p:nvCxnSpPr>
        <p:spPr bwMode="auto">
          <a:xfrm flipV="1">
            <a:off x="4602861" y="3103975"/>
            <a:ext cx="885825" cy="48101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" name="AutoShape 20">
            <a:extLst>
              <a:ext uri="{FF2B5EF4-FFF2-40B4-BE49-F238E27FC236}">
                <a16:creationId xmlns:a16="http://schemas.microsoft.com/office/drawing/2014/main" id="{3416091F-C29B-4F14-80A4-CFBEFD570FE7}"/>
              </a:ext>
            </a:extLst>
          </p:cNvPr>
          <p:cNvCxnSpPr>
            <a:cxnSpLocks noChangeShapeType="1"/>
            <a:stCxn id="32" idx="2"/>
            <a:endCxn id="29" idx="2"/>
          </p:cNvCxnSpPr>
          <p:nvPr/>
        </p:nvCxnSpPr>
        <p:spPr bwMode="auto">
          <a:xfrm rot="16200000" flipH="1">
            <a:off x="3661673" y="2986699"/>
            <a:ext cx="485775" cy="210740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" name="Oval 21">
            <a:extLst>
              <a:ext uri="{FF2B5EF4-FFF2-40B4-BE49-F238E27FC236}">
                <a16:creationId xmlns:a16="http://schemas.microsoft.com/office/drawing/2014/main" id="{C2D94438-2CDB-437A-8ED5-D059F94D5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074" y="3963606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2.2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Produce Product</a:t>
            </a:r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2272FD19-1D02-4ABE-B292-C7F53E6C8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786" y="4592256"/>
            <a:ext cx="685800" cy="22621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INVENTORTY</a:t>
            </a:r>
          </a:p>
        </p:txBody>
      </p:sp>
      <p:cxnSp>
        <p:nvCxnSpPr>
          <p:cNvPr id="38" name="AutoShape 23">
            <a:extLst>
              <a:ext uri="{FF2B5EF4-FFF2-40B4-BE49-F238E27FC236}">
                <a16:creationId xmlns:a16="http://schemas.microsoft.com/office/drawing/2014/main" id="{4369F783-3521-4589-AE03-64322341B5B5}"/>
              </a:ext>
            </a:extLst>
          </p:cNvPr>
          <p:cNvCxnSpPr>
            <a:cxnSpLocks noChangeShapeType="1"/>
            <a:stCxn id="36" idx="6"/>
            <a:endCxn id="41" idx="2"/>
          </p:cNvCxnSpPr>
          <p:nvPr/>
        </p:nvCxnSpPr>
        <p:spPr bwMode="auto">
          <a:xfrm flipV="1">
            <a:off x="4710018" y="3961225"/>
            <a:ext cx="835819" cy="345281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" name="Text Box 24">
            <a:extLst>
              <a:ext uri="{FF2B5EF4-FFF2-40B4-BE49-F238E27FC236}">
                <a16:creationId xmlns:a16="http://schemas.microsoft.com/office/drawing/2014/main" id="{9ABDF9E1-20F8-4CFA-87A4-6B3014FEB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1486" y="3277806"/>
            <a:ext cx="9715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Quantity Severed</a:t>
            </a:r>
          </a:p>
        </p:txBody>
      </p:sp>
      <p:sp>
        <p:nvSpPr>
          <p:cNvPr id="40" name="Text Box 25">
            <a:extLst>
              <a:ext uri="{FF2B5EF4-FFF2-40B4-BE49-F238E27FC236}">
                <a16:creationId xmlns:a16="http://schemas.microsoft.com/office/drawing/2014/main" id="{86A2F1D8-9931-406F-B802-F179C8149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986" y="3792156"/>
            <a:ext cx="800100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Production</a:t>
            </a:r>
            <a:b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</a:b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 Schedule</a:t>
            </a:r>
          </a:p>
        </p:txBody>
      </p:sp>
      <p:sp>
        <p:nvSpPr>
          <p:cNvPr id="41" name="Rectangle 26">
            <a:extLst>
              <a:ext uri="{FF2B5EF4-FFF2-40B4-BE49-F238E27FC236}">
                <a16:creationId xmlns:a16="http://schemas.microsoft.com/office/drawing/2014/main" id="{58EDE5B4-9CB8-465A-B9F3-C13F460F3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786" y="3677856"/>
            <a:ext cx="800100" cy="28336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RAW MATERIALS</a:t>
            </a:r>
          </a:p>
        </p:txBody>
      </p:sp>
      <p:cxnSp>
        <p:nvCxnSpPr>
          <p:cNvPr id="42" name="AutoShape 27">
            <a:extLst>
              <a:ext uri="{FF2B5EF4-FFF2-40B4-BE49-F238E27FC236}">
                <a16:creationId xmlns:a16="http://schemas.microsoft.com/office/drawing/2014/main" id="{93991DC3-9C04-4776-A3F3-DE9D6CC6664B}"/>
              </a:ext>
            </a:extLst>
          </p:cNvPr>
          <p:cNvCxnSpPr>
            <a:cxnSpLocks noChangeShapeType="1"/>
            <a:stCxn id="41" idx="1"/>
            <a:endCxn id="36" idx="0"/>
          </p:cNvCxnSpPr>
          <p:nvPr/>
        </p:nvCxnSpPr>
        <p:spPr bwMode="auto">
          <a:xfrm flipH="1">
            <a:off x="4359973" y="3819541"/>
            <a:ext cx="785813" cy="136922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" name="Oval 28">
            <a:extLst>
              <a:ext uri="{FF2B5EF4-FFF2-40B4-BE49-F238E27FC236}">
                <a16:creationId xmlns:a16="http://schemas.microsoft.com/office/drawing/2014/main" id="{259FA068-D885-428B-AF2E-85BBFD700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074" y="4992306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2.3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Store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</a:t>
            </a:r>
          </a:p>
        </p:txBody>
      </p:sp>
      <p:cxnSp>
        <p:nvCxnSpPr>
          <p:cNvPr id="44" name="AutoShape 29">
            <a:extLst>
              <a:ext uri="{FF2B5EF4-FFF2-40B4-BE49-F238E27FC236}">
                <a16:creationId xmlns:a16="http://schemas.microsoft.com/office/drawing/2014/main" id="{7B20F9CF-B924-4540-A7B2-C57C637D0AF3}"/>
              </a:ext>
            </a:extLst>
          </p:cNvPr>
          <p:cNvCxnSpPr>
            <a:cxnSpLocks noChangeShapeType="1"/>
            <a:stCxn id="43" idx="6"/>
            <a:endCxn id="37" idx="2"/>
          </p:cNvCxnSpPr>
          <p:nvPr/>
        </p:nvCxnSpPr>
        <p:spPr bwMode="auto">
          <a:xfrm flipV="1">
            <a:off x="4710018" y="4818475"/>
            <a:ext cx="778669" cy="516731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0" name="Text Box 30">
            <a:extLst>
              <a:ext uri="{FF2B5EF4-FFF2-40B4-BE49-F238E27FC236}">
                <a16:creationId xmlns:a16="http://schemas.microsoft.com/office/drawing/2014/main" id="{86F9AFA4-61CA-47B1-AEFB-6BF690517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4336" y="5192331"/>
            <a:ext cx="12001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Quantity Produced &amp; Location Stored</a:t>
            </a:r>
          </a:p>
        </p:txBody>
      </p:sp>
      <p:sp>
        <p:nvSpPr>
          <p:cNvPr id="71" name="Text Box 31">
            <a:extLst>
              <a:ext uri="{FF2B5EF4-FFF2-40B4-BE49-F238E27FC236}">
                <a16:creationId xmlns:a16="http://schemas.microsoft.com/office/drawing/2014/main" id="{57BC8DDF-C50E-47DB-96DE-4FBF88A0B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186" y="4192206"/>
            <a:ext cx="12001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Quantity Used</a:t>
            </a:r>
          </a:p>
        </p:txBody>
      </p:sp>
      <p:cxnSp>
        <p:nvCxnSpPr>
          <p:cNvPr id="72" name="AutoShape 32">
            <a:extLst>
              <a:ext uri="{FF2B5EF4-FFF2-40B4-BE49-F238E27FC236}">
                <a16:creationId xmlns:a16="http://schemas.microsoft.com/office/drawing/2014/main" id="{091EA7AA-0575-4927-9105-ACD00C1FC446}"/>
              </a:ext>
            </a:extLst>
          </p:cNvPr>
          <p:cNvCxnSpPr>
            <a:cxnSpLocks noChangeShapeType="1"/>
            <a:stCxn id="36" idx="4"/>
            <a:endCxn id="43" idx="0"/>
          </p:cNvCxnSpPr>
          <p:nvPr/>
        </p:nvCxnSpPr>
        <p:spPr bwMode="auto">
          <a:xfrm>
            <a:off x="4359974" y="4656550"/>
            <a:ext cx="0" cy="32861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3" name="Rectangle 33">
            <a:extLst>
              <a:ext uri="{FF2B5EF4-FFF2-40B4-BE49-F238E27FC236}">
                <a16:creationId xmlns:a16="http://schemas.microsoft.com/office/drawing/2014/main" id="{392C965A-B967-42FF-901A-9BDF123D1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037" y="4706556"/>
            <a:ext cx="103265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Production   Data</a:t>
            </a:r>
          </a:p>
        </p:txBody>
      </p:sp>
    </p:spTree>
    <p:extLst>
      <p:ext uri="{BB962C8B-B14F-4D97-AF65-F5344CB8AC3E}">
        <p14:creationId xmlns:p14="http://schemas.microsoft.com/office/powerpoint/2010/main" val="40450546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Lemonade System Example (cont’d)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16A850-6EA9-47D0-BE5A-362370A1097B}"/>
              </a:ext>
            </a:extLst>
          </p:cNvPr>
          <p:cNvSpPr txBox="1"/>
          <p:nvPr/>
        </p:nvSpPr>
        <p:spPr>
          <a:xfrm>
            <a:off x="628650" y="2013735"/>
            <a:ext cx="75695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Construct Level 1 DFD (cont’d)</a:t>
            </a: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5" name="Oval 13">
            <a:extLst>
              <a:ext uri="{FF2B5EF4-FFF2-40B4-BE49-F238E27FC236}">
                <a16:creationId xmlns:a16="http://schemas.microsoft.com/office/drawing/2014/main" id="{BE3827F5-083A-4038-BEB3-527A3C019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24" y="4217193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14">
            <a:extLst>
              <a:ext uri="{FF2B5EF4-FFF2-40B4-BE49-F238E27FC236}">
                <a16:creationId xmlns:a16="http://schemas.microsoft.com/office/drawing/2014/main" id="{DE1CF0AF-131C-46D0-BED8-106A7858C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24" y="4712493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17">
            <a:extLst>
              <a:ext uri="{FF2B5EF4-FFF2-40B4-BE49-F238E27FC236}">
                <a16:creationId xmlns:a16="http://schemas.microsoft.com/office/drawing/2014/main" id="{AAAEF0D9-C946-4709-8728-492764AE8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24" y="3236118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 19">
            <a:extLst>
              <a:ext uri="{FF2B5EF4-FFF2-40B4-BE49-F238E27FC236}">
                <a16:creationId xmlns:a16="http://schemas.microsoft.com/office/drawing/2014/main" id="{F398B220-C400-419C-BCFC-32177F0F8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024" y="27217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3.1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Produce Purchase Order</a:t>
            </a:r>
          </a:p>
        </p:txBody>
      </p:sp>
      <p:cxnSp>
        <p:nvCxnSpPr>
          <p:cNvPr id="47" name="AutoShape 20">
            <a:extLst>
              <a:ext uri="{FF2B5EF4-FFF2-40B4-BE49-F238E27FC236}">
                <a16:creationId xmlns:a16="http://schemas.microsoft.com/office/drawing/2014/main" id="{F5E43014-3F7D-471A-BC62-1D756E1AD5CA}"/>
              </a:ext>
            </a:extLst>
          </p:cNvPr>
          <p:cNvCxnSpPr>
            <a:cxnSpLocks noChangeShapeType="1"/>
            <a:stCxn id="54" idx="2"/>
            <a:endCxn id="52" idx="2"/>
          </p:cNvCxnSpPr>
          <p:nvPr/>
        </p:nvCxnSpPr>
        <p:spPr bwMode="auto">
          <a:xfrm rot="16200000" flipH="1">
            <a:off x="3310681" y="3840175"/>
            <a:ext cx="220637" cy="400050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8" name="Text Box 21">
            <a:extLst>
              <a:ext uri="{FF2B5EF4-FFF2-40B4-BE49-F238E27FC236}">
                <a16:creationId xmlns:a16="http://schemas.microsoft.com/office/drawing/2014/main" id="{340B97E5-4FB2-4CB9-ABC8-35624EDF9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25" y="2550318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Order Decision</a:t>
            </a:r>
          </a:p>
        </p:txBody>
      </p:sp>
      <p:sp>
        <p:nvSpPr>
          <p:cNvPr id="49" name="Rectangle 22">
            <a:extLst>
              <a:ext uri="{FF2B5EF4-FFF2-40B4-BE49-F238E27FC236}">
                <a16:creationId xmlns:a16="http://schemas.microsoft.com/office/drawing/2014/main" id="{888D878B-E80C-42E7-AD80-F8C724DBE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474" y="2664618"/>
            <a:ext cx="742950" cy="28336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PURCHASE ORDER</a:t>
            </a:r>
          </a:p>
        </p:txBody>
      </p:sp>
      <p:cxnSp>
        <p:nvCxnSpPr>
          <p:cNvPr id="50" name="AutoShape 23">
            <a:extLst>
              <a:ext uri="{FF2B5EF4-FFF2-40B4-BE49-F238E27FC236}">
                <a16:creationId xmlns:a16="http://schemas.microsoft.com/office/drawing/2014/main" id="{1D9AD89A-42F8-4806-A2AC-36929BF85756}"/>
              </a:ext>
            </a:extLst>
          </p:cNvPr>
          <p:cNvCxnSpPr>
            <a:cxnSpLocks noChangeShapeType="1"/>
            <a:stCxn id="45" idx="6"/>
            <a:endCxn id="49" idx="1"/>
          </p:cNvCxnSpPr>
          <p:nvPr/>
        </p:nvCxnSpPr>
        <p:spPr bwMode="auto">
          <a:xfrm flipV="1">
            <a:off x="4313968" y="2806303"/>
            <a:ext cx="621506" cy="25836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" name="AutoShape 24">
            <a:extLst>
              <a:ext uri="{FF2B5EF4-FFF2-40B4-BE49-F238E27FC236}">
                <a16:creationId xmlns:a16="http://schemas.microsoft.com/office/drawing/2014/main" id="{D589DBDA-B533-463F-9812-670AE44404A8}"/>
              </a:ext>
            </a:extLst>
          </p:cNvPr>
          <p:cNvCxnSpPr>
            <a:cxnSpLocks noChangeShapeType="1"/>
            <a:stCxn id="48" idx="2"/>
            <a:endCxn id="45" idx="2"/>
          </p:cNvCxnSpPr>
          <p:nvPr/>
        </p:nvCxnSpPr>
        <p:spPr bwMode="auto">
          <a:xfrm rot="16200000" flipH="1">
            <a:off x="3301342" y="2752129"/>
            <a:ext cx="314325" cy="310753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2" name="Oval 25">
            <a:extLst>
              <a:ext uri="{FF2B5EF4-FFF2-40B4-BE49-F238E27FC236}">
                <a16:creationId xmlns:a16="http://schemas.microsoft.com/office/drawing/2014/main" id="{B62759F5-4025-44AB-AFB5-39DB250CD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024" y="38076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3.2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Receive Items</a:t>
            </a:r>
          </a:p>
        </p:txBody>
      </p:sp>
      <p:cxnSp>
        <p:nvCxnSpPr>
          <p:cNvPr id="53" name="AutoShape 26">
            <a:extLst>
              <a:ext uri="{FF2B5EF4-FFF2-40B4-BE49-F238E27FC236}">
                <a16:creationId xmlns:a16="http://schemas.microsoft.com/office/drawing/2014/main" id="{95A6BA40-7B9D-46FE-85D4-CDA5A279A1FE}"/>
              </a:ext>
            </a:extLst>
          </p:cNvPr>
          <p:cNvCxnSpPr>
            <a:cxnSpLocks noChangeShapeType="1"/>
            <a:stCxn id="52" idx="7"/>
            <a:endCxn id="55" idx="2"/>
          </p:cNvCxnSpPr>
          <p:nvPr/>
        </p:nvCxnSpPr>
        <p:spPr bwMode="auto">
          <a:xfrm flipV="1">
            <a:off x="4206811" y="3629024"/>
            <a:ext cx="1185863" cy="27146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" name="Text Box 27">
            <a:extLst>
              <a:ext uri="{FF2B5EF4-FFF2-40B4-BE49-F238E27FC236}">
                <a16:creationId xmlns:a16="http://schemas.microsoft.com/office/drawing/2014/main" id="{3EC61DAE-B432-434B-8759-3267F60C4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924" y="3748907"/>
            <a:ext cx="800100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 dirty="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Received Goods</a:t>
            </a:r>
          </a:p>
        </p:txBody>
      </p:sp>
      <p:sp>
        <p:nvSpPr>
          <p:cNvPr id="55" name="Rectangle 28">
            <a:extLst>
              <a:ext uri="{FF2B5EF4-FFF2-40B4-BE49-F238E27FC236}">
                <a16:creationId xmlns:a16="http://schemas.microsoft.com/office/drawing/2014/main" id="{B5EA7AF6-E912-4569-B350-C1B4FB7E6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24" y="3345656"/>
            <a:ext cx="800100" cy="28336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RAW MATERIALS</a:t>
            </a:r>
          </a:p>
        </p:txBody>
      </p:sp>
      <p:cxnSp>
        <p:nvCxnSpPr>
          <p:cNvPr id="56" name="AutoShape 29">
            <a:extLst>
              <a:ext uri="{FF2B5EF4-FFF2-40B4-BE49-F238E27FC236}">
                <a16:creationId xmlns:a16="http://schemas.microsoft.com/office/drawing/2014/main" id="{599CB573-010F-4FE6-BC19-C50C589E92B9}"/>
              </a:ext>
            </a:extLst>
          </p:cNvPr>
          <p:cNvCxnSpPr>
            <a:cxnSpLocks noChangeShapeType="1"/>
            <a:stCxn id="55" idx="1"/>
            <a:endCxn id="45" idx="5"/>
          </p:cNvCxnSpPr>
          <p:nvPr/>
        </p:nvCxnSpPr>
        <p:spPr bwMode="auto">
          <a:xfrm flipH="1" flipV="1">
            <a:off x="4206811" y="3314699"/>
            <a:ext cx="785813" cy="172641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7" name="Oval 30">
            <a:extLst>
              <a:ext uri="{FF2B5EF4-FFF2-40B4-BE49-F238E27FC236}">
                <a16:creationId xmlns:a16="http://schemas.microsoft.com/office/drawing/2014/main" id="{88EFC059-F81B-4262-982A-91CD752D0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024" y="48363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3.3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 Vendor</a:t>
            </a:r>
          </a:p>
        </p:txBody>
      </p:sp>
      <p:cxnSp>
        <p:nvCxnSpPr>
          <p:cNvPr id="58" name="AutoShape 31">
            <a:extLst>
              <a:ext uri="{FF2B5EF4-FFF2-40B4-BE49-F238E27FC236}">
                <a16:creationId xmlns:a16="http://schemas.microsoft.com/office/drawing/2014/main" id="{6A031349-F9BD-455F-A0B9-AF36E013355F}"/>
              </a:ext>
            </a:extLst>
          </p:cNvPr>
          <p:cNvCxnSpPr>
            <a:cxnSpLocks noChangeShapeType="1"/>
            <a:stCxn id="63" idx="1"/>
            <a:endCxn id="57" idx="6"/>
          </p:cNvCxnSpPr>
          <p:nvPr/>
        </p:nvCxnSpPr>
        <p:spPr bwMode="auto">
          <a:xfrm flipH="1">
            <a:off x="4313968" y="4949428"/>
            <a:ext cx="792956" cy="22979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" name="Text Box 32">
            <a:extLst>
              <a:ext uri="{FF2B5EF4-FFF2-40B4-BE49-F238E27FC236}">
                <a16:creationId xmlns:a16="http://schemas.microsoft.com/office/drawing/2014/main" id="{4C0EE7DC-BA8E-4835-BFEC-F9D52D732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24" y="3521868"/>
            <a:ext cx="10858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Quantity </a:t>
            </a:r>
            <a:b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</a:b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 Received</a:t>
            </a:r>
          </a:p>
        </p:txBody>
      </p:sp>
      <p:cxnSp>
        <p:nvCxnSpPr>
          <p:cNvPr id="60" name="AutoShape 33">
            <a:extLst>
              <a:ext uri="{FF2B5EF4-FFF2-40B4-BE49-F238E27FC236}">
                <a16:creationId xmlns:a16="http://schemas.microsoft.com/office/drawing/2014/main" id="{2BB5F3F4-35E0-431D-842F-2D4A3DE03C34}"/>
              </a:ext>
            </a:extLst>
          </p:cNvPr>
          <p:cNvCxnSpPr>
            <a:cxnSpLocks noChangeShapeType="1"/>
            <a:stCxn id="52" idx="4"/>
            <a:endCxn id="57" idx="0"/>
          </p:cNvCxnSpPr>
          <p:nvPr/>
        </p:nvCxnSpPr>
        <p:spPr bwMode="auto">
          <a:xfrm>
            <a:off x="3963924" y="4500562"/>
            <a:ext cx="0" cy="32861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" name="Text Box 34">
            <a:extLst>
              <a:ext uri="{FF2B5EF4-FFF2-40B4-BE49-F238E27FC236}">
                <a16:creationId xmlns:a16="http://schemas.microsoft.com/office/drawing/2014/main" id="{1E94F631-00A9-448E-8187-1449E2773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374" y="3121818"/>
            <a:ext cx="12001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Quantity On-Hand</a:t>
            </a:r>
          </a:p>
        </p:txBody>
      </p:sp>
      <p:sp>
        <p:nvSpPr>
          <p:cNvPr id="62" name="Rectangle 35">
            <a:extLst>
              <a:ext uri="{FF2B5EF4-FFF2-40B4-BE49-F238E27FC236}">
                <a16:creationId xmlns:a16="http://schemas.microsoft.com/office/drawing/2014/main" id="{B63B253F-9B38-4680-984E-13649B8A5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24" y="4313634"/>
            <a:ext cx="742950" cy="28336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RECEIVED ITEMS</a:t>
            </a:r>
          </a:p>
        </p:txBody>
      </p:sp>
      <p:sp>
        <p:nvSpPr>
          <p:cNvPr id="63" name="Rectangle 36">
            <a:extLst>
              <a:ext uri="{FF2B5EF4-FFF2-40B4-BE49-F238E27FC236}">
                <a16:creationId xmlns:a16="http://schemas.microsoft.com/office/drawing/2014/main" id="{019EE8E1-365D-4481-A174-28BC49D6E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24" y="4836318"/>
            <a:ext cx="685800" cy="22621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VENDOR</a:t>
            </a:r>
          </a:p>
        </p:txBody>
      </p:sp>
      <p:cxnSp>
        <p:nvCxnSpPr>
          <p:cNvPr id="64" name="AutoShape 37">
            <a:extLst>
              <a:ext uri="{FF2B5EF4-FFF2-40B4-BE49-F238E27FC236}">
                <a16:creationId xmlns:a16="http://schemas.microsoft.com/office/drawing/2014/main" id="{0E25845E-C4C2-407B-97A4-B10226DA4A63}"/>
              </a:ext>
            </a:extLst>
          </p:cNvPr>
          <p:cNvCxnSpPr>
            <a:cxnSpLocks noChangeShapeType="1"/>
            <a:stCxn id="49" idx="3"/>
            <a:endCxn id="52" idx="6"/>
          </p:cNvCxnSpPr>
          <p:nvPr/>
        </p:nvCxnSpPr>
        <p:spPr bwMode="auto">
          <a:xfrm flipH="1">
            <a:off x="4313968" y="2806303"/>
            <a:ext cx="1364456" cy="1344215"/>
          </a:xfrm>
          <a:prstGeom prst="bentConnector3">
            <a:avLst>
              <a:gd name="adj1" fmla="val -31417"/>
            </a:avLst>
          </a:prstGeom>
          <a:noFill/>
          <a:ln w="15875">
            <a:solidFill>
              <a:srgbClr val="000000"/>
            </a:solidFill>
            <a:miter lim="800000"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" name="AutoShape 38">
            <a:extLst>
              <a:ext uri="{FF2B5EF4-FFF2-40B4-BE49-F238E27FC236}">
                <a16:creationId xmlns:a16="http://schemas.microsoft.com/office/drawing/2014/main" id="{397A8076-A350-49A4-9E5E-89F106407E10}"/>
              </a:ext>
            </a:extLst>
          </p:cNvPr>
          <p:cNvCxnSpPr>
            <a:cxnSpLocks noChangeShapeType="1"/>
            <a:stCxn id="62" idx="1"/>
            <a:endCxn id="57" idx="7"/>
          </p:cNvCxnSpPr>
          <p:nvPr/>
        </p:nvCxnSpPr>
        <p:spPr bwMode="auto">
          <a:xfrm flipH="1">
            <a:off x="4206811" y="4455318"/>
            <a:ext cx="900113" cy="473869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6" name="AutoShape 39">
            <a:extLst>
              <a:ext uri="{FF2B5EF4-FFF2-40B4-BE49-F238E27FC236}">
                <a16:creationId xmlns:a16="http://schemas.microsoft.com/office/drawing/2014/main" id="{ACC7D9BE-F2AF-4D62-8E36-6F2E2831D2F8}"/>
              </a:ext>
            </a:extLst>
          </p:cNvPr>
          <p:cNvCxnSpPr>
            <a:cxnSpLocks noChangeShapeType="1"/>
            <a:stCxn id="52" idx="5"/>
            <a:endCxn id="62" idx="1"/>
          </p:cNvCxnSpPr>
          <p:nvPr/>
        </p:nvCxnSpPr>
        <p:spPr bwMode="auto">
          <a:xfrm>
            <a:off x="4206811" y="4400550"/>
            <a:ext cx="900113" cy="54769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7" name="Text Box 40">
            <a:extLst>
              <a:ext uri="{FF2B5EF4-FFF2-40B4-BE49-F238E27FC236}">
                <a16:creationId xmlns:a16="http://schemas.microsoft.com/office/drawing/2014/main" id="{5CD88732-02C8-4C58-834B-C87E8C6B6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387" y="4542234"/>
            <a:ext cx="12001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  Approval</a:t>
            </a:r>
          </a:p>
        </p:txBody>
      </p:sp>
      <p:cxnSp>
        <p:nvCxnSpPr>
          <p:cNvPr id="68" name="AutoShape 42">
            <a:extLst>
              <a:ext uri="{FF2B5EF4-FFF2-40B4-BE49-F238E27FC236}">
                <a16:creationId xmlns:a16="http://schemas.microsoft.com/office/drawing/2014/main" id="{5AE807B1-4D89-4B69-9BD9-3B3B526CB774}"/>
              </a:ext>
            </a:extLst>
          </p:cNvPr>
          <p:cNvCxnSpPr>
            <a:cxnSpLocks noChangeShapeType="1"/>
            <a:stCxn id="57" idx="4"/>
          </p:cNvCxnSpPr>
          <p:nvPr/>
        </p:nvCxnSpPr>
        <p:spPr bwMode="auto">
          <a:xfrm rot="5400000">
            <a:off x="3665077" y="5428059"/>
            <a:ext cx="197644" cy="400050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9" name="Text Box 41">
            <a:extLst>
              <a:ext uri="{FF2B5EF4-FFF2-40B4-BE49-F238E27FC236}">
                <a16:creationId xmlns:a16="http://schemas.microsoft.com/office/drawing/2014/main" id="{2EB46BD8-24F2-4D9E-AAE1-23DA89209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287" y="5636419"/>
            <a:ext cx="800100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</a:t>
            </a:r>
          </a:p>
        </p:txBody>
      </p:sp>
    </p:spTree>
    <p:extLst>
      <p:ext uri="{BB962C8B-B14F-4D97-AF65-F5344CB8AC3E}">
        <p14:creationId xmlns:p14="http://schemas.microsoft.com/office/powerpoint/2010/main" val="3620950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78B4-45BF-4FBE-B409-98DD2D6E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Lemonade System Example (cont’d)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16A850-6EA9-47D0-BE5A-362370A1097B}"/>
              </a:ext>
            </a:extLst>
          </p:cNvPr>
          <p:cNvSpPr txBox="1"/>
          <p:nvPr/>
        </p:nvSpPr>
        <p:spPr>
          <a:xfrm>
            <a:off x="628650" y="2013735"/>
            <a:ext cx="75695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prstClr val="black"/>
                </a:solidFill>
                <a:latin typeface="Calibri Light" panose="020F0302020204030204"/>
                <a:ea typeface="+mn-ea"/>
                <a:cs typeface="+mn-cs"/>
              </a:rPr>
              <a:t>Construct Level 1 DFD (cont’d)</a:t>
            </a:r>
            <a:endParaRPr lang="en-US" dirty="0">
              <a:solidFill>
                <a:prstClr val="black"/>
              </a:solidFill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9DCCD99C-FA62-4F7A-A654-EA1271BD4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894" y="2552319"/>
            <a:ext cx="1193006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Time Worked</a:t>
            </a:r>
          </a:p>
        </p:txBody>
      </p:sp>
      <p:sp>
        <p:nvSpPr>
          <p:cNvPr id="32" name="Oval 11">
            <a:extLst>
              <a:ext uri="{FF2B5EF4-FFF2-40B4-BE49-F238E27FC236}">
                <a16:creationId xmlns:a16="http://schemas.microsoft.com/office/drawing/2014/main" id="{CF557526-D781-4EA0-9F6C-F235A62AF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050" y="4066794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12">
            <a:extLst>
              <a:ext uri="{FF2B5EF4-FFF2-40B4-BE49-F238E27FC236}">
                <a16:creationId xmlns:a16="http://schemas.microsoft.com/office/drawing/2014/main" id="{A485AB37-AAE8-4FBE-A539-5801A6A95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3609594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15">
            <a:extLst>
              <a:ext uri="{FF2B5EF4-FFF2-40B4-BE49-F238E27FC236}">
                <a16:creationId xmlns:a16="http://schemas.microsoft.com/office/drawing/2014/main" id="{D6799932-C8F3-43B4-B087-2C6383F57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4304919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6F7D1FB8-49F9-4BB7-AF32-E57D44D73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4800219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17">
            <a:extLst>
              <a:ext uri="{FF2B5EF4-FFF2-40B4-BE49-F238E27FC236}">
                <a16:creationId xmlns:a16="http://schemas.microsoft.com/office/drawing/2014/main" id="{1760F7BF-6EE8-4929-95F9-3FE7698D9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3323844"/>
            <a:ext cx="171450" cy="17145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778680A8-DE99-4F08-AFE4-4E5AFDCA3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809494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4.1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Record Time Worked</a:t>
            </a:r>
          </a:p>
        </p:txBody>
      </p:sp>
      <p:cxnSp>
        <p:nvCxnSpPr>
          <p:cNvPr id="38" name="AutoShape 19">
            <a:extLst>
              <a:ext uri="{FF2B5EF4-FFF2-40B4-BE49-F238E27FC236}">
                <a16:creationId xmlns:a16="http://schemas.microsoft.com/office/drawing/2014/main" id="{22F3B302-0188-4229-9970-95A754AFE9BF}"/>
              </a:ext>
            </a:extLst>
          </p:cNvPr>
          <p:cNvCxnSpPr>
            <a:cxnSpLocks noChangeShapeType="1"/>
            <a:stCxn id="44" idx="2"/>
            <a:endCxn id="42" idx="2"/>
          </p:cNvCxnSpPr>
          <p:nvPr/>
        </p:nvCxnSpPr>
        <p:spPr bwMode="auto">
          <a:xfrm rot="16200000" flipH="1">
            <a:off x="3253979" y="3898916"/>
            <a:ext cx="285750" cy="392906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" name="Rectangle 20">
            <a:extLst>
              <a:ext uri="{FF2B5EF4-FFF2-40B4-BE49-F238E27FC236}">
                <a16:creationId xmlns:a16="http://schemas.microsoft.com/office/drawing/2014/main" id="{A076E78C-7993-49AB-94C4-2AB3A4C5C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2752344"/>
            <a:ext cx="742950" cy="28336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TIME CARDS</a:t>
            </a:r>
          </a:p>
        </p:txBody>
      </p:sp>
      <p:cxnSp>
        <p:nvCxnSpPr>
          <p:cNvPr id="40" name="AutoShape 21">
            <a:extLst>
              <a:ext uri="{FF2B5EF4-FFF2-40B4-BE49-F238E27FC236}">
                <a16:creationId xmlns:a16="http://schemas.microsoft.com/office/drawing/2014/main" id="{19AC7FF9-1D99-4B70-8520-CD0DB5F19186}"/>
              </a:ext>
            </a:extLst>
          </p:cNvPr>
          <p:cNvCxnSpPr>
            <a:cxnSpLocks noChangeShapeType="1"/>
            <a:stCxn id="37" idx="6"/>
            <a:endCxn id="39" idx="1"/>
          </p:cNvCxnSpPr>
          <p:nvPr/>
        </p:nvCxnSpPr>
        <p:spPr bwMode="auto">
          <a:xfrm flipV="1">
            <a:off x="4293394" y="2894029"/>
            <a:ext cx="621506" cy="25836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" name="AutoShape 22">
            <a:extLst>
              <a:ext uri="{FF2B5EF4-FFF2-40B4-BE49-F238E27FC236}">
                <a16:creationId xmlns:a16="http://schemas.microsoft.com/office/drawing/2014/main" id="{9E4DEEBA-9154-41A0-A6D9-32610FA8DA35}"/>
              </a:ext>
            </a:extLst>
          </p:cNvPr>
          <p:cNvCxnSpPr>
            <a:cxnSpLocks noChangeShapeType="1"/>
            <a:stCxn id="31" idx="2"/>
            <a:endCxn id="37" idx="2"/>
          </p:cNvCxnSpPr>
          <p:nvPr/>
        </p:nvCxnSpPr>
        <p:spPr bwMode="auto">
          <a:xfrm rot="16200000" flipH="1">
            <a:off x="3184327" y="2743415"/>
            <a:ext cx="400050" cy="417909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2" name="Oval 23">
            <a:extLst>
              <a:ext uri="{FF2B5EF4-FFF2-40B4-BE49-F238E27FC236}">
                <a16:creationId xmlns:a16="http://schemas.microsoft.com/office/drawing/2014/main" id="{A99D7F16-B865-4604-82D7-A5A284193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3895344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4.2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Calculate Payroll</a:t>
            </a:r>
          </a:p>
        </p:txBody>
      </p:sp>
      <p:cxnSp>
        <p:nvCxnSpPr>
          <p:cNvPr id="43" name="AutoShape 24">
            <a:extLst>
              <a:ext uri="{FF2B5EF4-FFF2-40B4-BE49-F238E27FC236}">
                <a16:creationId xmlns:a16="http://schemas.microsoft.com/office/drawing/2014/main" id="{6EAE2C13-8C3A-4D37-9EC2-E9844EC33A95}"/>
              </a:ext>
            </a:extLst>
          </p:cNvPr>
          <p:cNvCxnSpPr>
            <a:cxnSpLocks noChangeShapeType="1"/>
            <a:stCxn id="42" idx="7"/>
            <a:endCxn id="70" idx="2"/>
          </p:cNvCxnSpPr>
          <p:nvPr/>
        </p:nvCxnSpPr>
        <p:spPr bwMode="auto">
          <a:xfrm flipV="1">
            <a:off x="4186237" y="3716750"/>
            <a:ext cx="1185863" cy="27146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4" name="Text Box 25">
            <a:extLst>
              <a:ext uri="{FF2B5EF4-FFF2-40B4-BE49-F238E27FC236}">
                <a16:creationId xmlns:a16="http://schemas.microsoft.com/office/drawing/2014/main" id="{39A2C0C2-6DCF-416F-9AF5-56398D7D6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050" y="3781044"/>
            <a:ext cx="10287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Payroll Request</a:t>
            </a:r>
          </a:p>
        </p:txBody>
      </p:sp>
      <p:sp>
        <p:nvSpPr>
          <p:cNvPr id="70" name="Rectangle 26">
            <a:extLst>
              <a:ext uri="{FF2B5EF4-FFF2-40B4-BE49-F238E27FC236}">
                <a16:creationId xmlns:a16="http://schemas.microsoft.com/office/drawing/2014/main" id="{CBA58CB9-6E37-46E8-9FE4-B097C38ED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3433382"/>
            <a:ext cx="800100" cy="28336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EMPLOYEE</a:t>
            </a:r>
          </a:p>
        </p:txBody>
      </p:sp>
      <p:cxnSp>
        <p:nvCxnSpPr>
          <p:cNvPr id="71" name="AutoShape 27">
            <a:extLst>
              <a:ext uri="{FF2B5EF4-FFF2-40B4-BE49-F238E27FC236}">
                <a16:creationId xmlns:a16="http://schemas.microsoft.com/office/drawing/2014/main" id="{A6380596-4B27-4540-A0F8-3A981B5C3807}"/>
              </a:ext>
            </a:extLst>
          </p:cNvPr>
          <p:cNvCxnSpPr>
            <a:cxnSpLocks noChangeShapeType="1"/>
            <a:stCxn id="70" idx="1"/>
            <a:endCxn id="37" idx="5"/>
          </p:cNvCxnSpPr>
          <p:nvPr/>
        </p:nvCxnSpPr>
        <p:spPr bwMode="auto">
          <a:xfrm flipH="1" flipV="1">
            <a:off x="4186237" y="3402425"/>
            <a:ext cx="785813" cy="172641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2" name="Oval 28">
            <a:extLst>
              <a:ext uri="{FF2B5EF4-FFF2-40B4-BE49-F238E27FC236}">
                <a16:creationId xmlns:a16="http://schemas.microsoft.com/office/drawing/2014/main" id="{8CC7F895-01CF-476F-8D0B-AD16879FF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4924044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4.3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 Employee</a:t>
            </a:r>
          </a:p>
        </p:txBody>
      </p:sp>
      <p:cxnSp>
        <p:nvCxnSpPr>
          <p:cNvPr id="73" name="AutoShape 29">
            <a:extLst>
              <a:ext uri="{FF2B5EF4-FFF2-40B4-BE49-F238E27FC236}">
                <a16:creationId xmlns:a16="http://schemas.microsoft.com/office/drawing/2014/main" id="{CFE8A532-2A59-46B0-9C6D-64303742F6C5}"/>
              </a:ext>
            </a:extLst>
          </p:cNvPr>
          <p:cNvCxnSpPr>
            <a:cxnSpLocks noChangeShapeType="1"/>
            <a:stCxn id="72" idx="6"/>
            <a:endCxn id="77" idx="1"/>
          </p:cNvCxnSpPr>
          <p:nvPr/>
        </p:nvCxnSpPr>
        <p:spPr bwMode="auto">
          <a:xfrm>
            <a:off x="4293394" y="5266944"/>
            <a:ext cx="621506" cy="22741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4" name="AutoShape 30">
            <a:extLst>
              <a:ext uri="{FF2B5EF4-FFF2-40B4-BE49-F238E27FC236}">
                <a16:creationId xmlns:a16="http://schemas.microsoft.com/office/drawing/2014/main" id="{F571CE83-72CE-43A1-9DCB-1D77CCD7921D}"/>
              </a:ext>
            </a:extLst>
          </p:cNvPr>
          <p:cNvCxnSpPr>
            <a:cxnSpLocks noChangeShapeType="1"/>
            <a:stCxn id="42" idx="4"/>
            <a:endCxn id="72" idx="0"/>
          </p:cNvCxnSpPr>
          <p:nvPr/>
        </p:nvCxnSpPr>
        <p:spPr bwMode="auto">
          <a:xfrm>
            <a:off x="3943350" y="4588288"/>
            <a:ext cx="0" cy="32861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" name="Text Box 31">
            <a:extLst>
              <a:ext uri="{FF2B5EF4-FFF2-40B4-BE49-F238E27FC236}">
                <a16:creationId xmlns:a16="http://schemas.microsoft.com/office/drawing/2014/main" id="{B3CC6DC3-9822-4C30-97E3-C2F8B8BB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650" y="3209544"/>
            <a:ext cx="12001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Employee ID</a:t>
            </a:r>
          </a:p>
        </p:txBody>
      </p:sp>
      <p:sp>
        <p:nvSpPr>
          <p:cNvPr id="76" name="Rectangle 32">
            <a:extLst>
              <a:ext uri="{FF2B5EF4-FFF2-40B4-BE49-F238E27FC236}">
                <a16:creationId xmlns:a16="http://schemas.microsoft.com/office/drawing/2014/main" id="{DC06B6F4-E1FB-4076-AB55-75B21A13E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4352544"/>
            <a:ext cx="742950" cy="28336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PAYROLL</a:t>
            </a:r>
          </a:p>
        </p:txBody>
      </p:sp>
      <p:sp>
        <p:nvSpPr>
          <p:cNvPr id="77" name="Rectangle 33">
            <a:extLst>
              <a:ext uri="{FF2B5EF4-FFF2-40B4-BE49-F238E27FC236}">
                <a16:creationId xmlns:a16="http://schemas.microsoft.com/office/drawing/2014/main" id="{6697C2A7-725D-4E4E-A203-053209171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5381244"/>
            <a:ext cx="685800" cy="226219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PAYMENTS</a:t>
            </a:r>
          </a:p>
        </p:txBody>
      </p:sp>
      <p:cxnSp>
        <p:nvCxnSpPr>
          <p:cNvPr id="78" name="AutoShape 34">
            <a:extLst>
              <a:ext uri="{FF2B5EF4-FFF2-40B4-BE49-F238E27FC236}">
                <a16:creationId xmlns:a16="http://schemas.microsoft.com/office/drawing/2014/main" id="{3E3D3D4D-F013-48F2-8B04-13511AEA282F}"/>
              </a:ext>
            </a:extLst>
          </p:cNvPr>
          <p:cNvCxnSpPr>
            <a:cxnSpLocks noChangeShapeType="1"/>
            <a:stCxn id="39" idx="3"/>
            <a:endCxn id="42" idx="6"/>
          </p:cNvCxnSpPr>
          <p:nvPr/>
        </p:nvCxnSpPr>
        <p:spPr bwMode="auto">
          <a:xfrm flipH="1">
            <a:off x="4293394" y="2894029"/>
            <a:ext cx="1364456" cy="1344215"/>
          </a:xfrm>
          <a:prstGeom prst="bentConnector3">
            <a:avLst>
              <a:gd name="adj1" fmla="val -31417"/>
            </a:avLst>
          </a:prstGeom>
          <a:noFill/>
          <a:ln w="15875">
            <a:solidFill>
              <a:srgbClr val="000000"/>
            </a:solidFill>
            <a:miter lim="800000"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" name="AutoShape 35">
            <a:extLst>
              <a:ext uri="{FF2B5EF4-FFF2-40B4-BE49-F238E27FC236}">
                <a16:creationId xmlns:a16="http://schemas.microsoft.com/office/drawing/2014/main" id="{BE1AB45B-693B-48F5-AA0C-EC5AA306699A}"/>
              </a:ext>
            </a:extLst>
          </p:cNvPr>
          <p:cNvCxnSpPr>
            <a:cxnSpLocks noChangeShapeType="1"/>
            <a:stCxn id="76" idx="1"/>
            <a:endCxn id="72" idx="7"/>
          </p:cNvCxnSpPr>
          <p:nvPr/>
        </p:nvCxnSpPr>
        <p:spPr bwMode="auto">
          <a:xfrm flipH="1">
            <a:off x="4186237" y="4494229"/>
            <a:ext cx="900113" cy="522684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0" name="AutoShape 36">
            <a:extLst>
              <a:ext uri="{FF2B5EF4-FFF2-40B4-BE49-F238E27FC236}">
                <a16:creationId xmlns:a16="http://schemas.microsoft.com/office/drawing/2014/main" id="{2BC1F75C-9FCA-44F4-91B9-C8A0FB7219F3}"/>
              </a:ext>
            </a:extLst>
          </p:cNvPr>
          <p:cNvCxnSpPr>
            <a:cxnSpLocks noChangeShapeType="1"/>
            <a:stCxn id="42" idx="5"/>
            <a:endCxn id="76" idx="1"/>
          </p:cNvCxnSpPr>
          <p:nvPr/>
        </p:nvCxnSpPr>
        <p:spPr bwMode="auto">
          <a:xfrm>
            <a:off x="4186237" y="4488275"/>
            <a:ext cx="900113" cy="5954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1" name="Text Box 37">
            <a:extLst>
              <a:ext uri="{FF2B5EF4-FFF2-40B4-BE49-F238E27FC236}">
                <a16:creationId xmlns:a16="http://schemas.microsoft.com/office/drawing/2014/main" id="{ECAFE427-2149-46D1-B37D-637429B52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3" y="4629960"/>
            <a:ext cx="120015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  Approval</a:t>
            </a:r>
          </a:p>
        </p:txBody>
      </p:sp>
      <p:sp>
        <p:nvSpPr>
          <p:cNvPr id="82" name="Text Box 38">
            <a:extLst>
              <a:ext uri="{FF2B5EF4-FFF2-40B4-BE49-F238E27FC236}">
                <a16:creationId xmlns:a16="http://schemas.microsoft.com/office/drawing/2014/main" id="{A891FC0F-89DD-4F73-8315-E19A451D7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050" y="5724144"/>
            <a:ext cx="800100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Payment</a:t>
            </a:r>
          </a:p>
        </p:txBody>
      </p:sp>
      <p:cxnSp>
        <p:nvCxnSpPr>
          <p:cNvPr id="83" name="AutoShape 39">
            <a:extLst>
              <a:ext uri="{FF2B5EF4-FFF2-40B4-BE49-F238E27FC236}">
                <a16:creationId xmlns:a16="http://schemas.microsoft.com/office/drawing/2014/main" id="{796C74BC-F235-4199-AECC-BE8D836C0E27}"/>
              </a:ext>
            </a:extLst>
          </p:cNvPr>
          <p:cNvCxnSpPr>
            <a:cxnSpLocks noChangeShapeType="1"/>
            <a:stCxn id="72" idx="4"/>
            <a:endCxn id="82" idx="3"/>
          </p:cNvCxnSpPr>
          <p:nvPr/>
        </p:nvCxnSpPr>
        <p:spPr bwMode="auto">
          <a:xfrm rot="5400000">
            <a:off x="3615928" y="5487210"/>
            <a:ext cx="197644" cy="457200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4" name="Text Box 40">
            <a:extLst>
              <a:ext uri="{FF2B5EF4-FFF2-40B4-BE49-F238E27FC236}">
                <a16:creationId xmlns:a16="http://schemas.microsoft.com/office/drawing/2014/main" id="{77BC9F24-87ED-4F95-ABC5-88BB1172A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4066794"/>
            <a:ext cx="10287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5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Unpaid time cards</a:t>
            </a:r>
          </a:p>
        </p:txBody>
      </p:sp>
    </p:spTree>
    <p:extLst>
      <p:ext uri="{BB962C8B-B14F-4D97-AF65-F5344CB8AC3E}">
        <p14:creationId xmlns:p14="http://schemas.microsoft.com/office/powerpoint/2010/main" val="37791368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10">
            <a:extLst>
              <a:ext uri="{FF2B5EF4-FFF2-40B4-BE49-F238E27FC236}">
                <a16:creationId xmlns:a16="http://schemas.microsoft.com/office/drawing/2014/main" id="{3BBE3291-55CF-41DD-9C32-1EDC8732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034" y="43159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4.1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Record Time Worked</a:t>
            </a:r>
          </a:p>
        </p:txBody>
      </p:sp>
      <p:sp>
        <p:nvSpPr>
          <p:cNvPr id="84" name="Oval 11">
            <a:extLst>
              <a:ext uri="{FF2B5EF4-FFF2-40B4-BE49-F238E27FC236}">
                <a16:creationId xmlns:a16="http://schemas.microsoft.com/office/drawing/2014/main" id="{5AAB6636-9730-49D8-AAE0-3755447E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134" y="43159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4.2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Calculate Payroll</a:t>
            </a:r>
          </a:p>
        </p:txBody>
      </p:sp>
      <p:sp>
        <p:nvSpPr>
          <p:cNvPr id="85" name="Oval 12">
            <a:extLst>
              <a:ext uri="{FF2B5EF4-FFF2-40B4-BE49-F238E27FC236}">
                <a16:creationId xmlns:a16="http://schemas.microsoft.com/office/drawing/2014/main" id="{12716743-9002-498F-A0BB-DFBDE1425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34" y="43159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4.3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 Employee</a:t>
            </a:r>
          </a:p>
        </p:txBody>
      </p:sp>
      <p:sp>
        <p:nvSpPr>
          <p:cNvPr id="86" name="Oval 13">
            <a:extLst>
              <a:ext uri="{FF2B5EF4-FFF2-40B4-BE49-F238E27FC236}">
                <a16:creationId xmlns:a16="http://schemas.microsoft.com/office/drawing/2014/main" id="{A9C01913-8811-4AC7-A1F6-B06067E62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034" y="32301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3.1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Produce Purchase Order</a:t>
            </a:r>
          </a:p>
        </p:txBody>
      </p:sp>
      <p:sp>
        <p:nvSpPr>
          <p:cNvPr id="87" name="Oval 14">
            <a:extLst>
              <a:ext uri="{FF2B5EF4-FFF2-40B4-BE49-F238E27FC236}">
                <a16:creationId xmlns:a16="http://schemas.microsoft.com/office/drawing/2014/main" id="{ED899709-32A9-4D7B-A0F5-C99B4F2ED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134" y="32301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3.2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Receive Items</a:t>
            </a:r>
          </a:p>
        </p:txBody>
      </p:sp>
      <p:sp>
        <p:nvSpPr>
          <p:cNvPr id="88" name="Oval 15">
            <a:extLst>
              <a:ext uri="{FF2B5EF4-FFF2-40B4-BE49-F238E27FC236}">
                <a16:creationId xmlns:a16="http://schemas.microsoft.com/office/drawing/2014/main" id="{27897B4D-5224-4ADF-871B-A5F74F407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34" y="32301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3.3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 Vendor</a:t>
            </a: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8A4A88FA-8095-4330-87B0-FAA92D90E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034" y="22014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2.1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Serve Product</a:t>
            </a:r>
          </a:p>
        </p:txBody>
      </p:sp>
      <p:sp>
        <p:nvSpPr>
          <p:cNvPr id="90" name="Oval 17">
            <a:extLst>
              <a:ext uri="{FF2B5EF4-FFF2-40B4-BE49-F238E27FC236}">
                <a16:creationId xmlns:a16="http://schemas.microsoft.com/office/drawing/2014/main" id="{5561E8C9-8B4E-450C-92FB-B2C68127F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134" y="22014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2.2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Produce Product</a:t>
            </a:r>
          </a:p>
        </p:txBody>
      </p:sp>
      <p:sp>
        <p:nvSpPr>
          <p:cNvPr id="91" name="Oval 18">
            <a:extLst>
              <a:ext uri="{FF2B5EF4-FFF2-40B4-BE49-F238E27FC236}">
                <a16:creationId xmlns:a16="http://schemas.microsoft.com/office/drawing/2014/main" id="{CFABEFBA-ED1B-43CB-A52C-3B599E9EB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34" y="22014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2.3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Store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</a:t>
            </a:r>
          </a:p>
        </p:txBody>
      </p:sp>
      <p:sp>
        <p:nvSpPr>
          <p:cNvPr id="92" name="Oval 19">
            <a:extLst>
              <a:ext uri="{FF2B5EF4-FFF2-40B4-BE49-F238E27FC236}">
                <a16:creationId xmlns:a16="http://schemas.microsoft.com/office/drawing/2014/main" id="{0CA7C8C8-8B98-44D6-BE81-4298B775A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034" y="12298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1.1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Record Order</a:t>
            </a:r>
          </a:p>
        </p:txBody>
      </p:sp>
      <p:sp>
        <p:nvSpPr>
          <p:cNvPr id="93" name="Oval 20">
            <a:extLst>
              <a:ext uri="{FF2B5EF4-FFF2-40B4-BE49-F238E27FC236}">
                <a16:creationId xmlns:a16="http://schemas.microsoft.com/office/drawing/2014/main" id="{C8892DF3-8F0D-4FA8-9DEF-A22D0AF62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134" y="12298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90" rIns="3429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1.2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Receive Payment</a:t>
            </a:r>
          </a:p>
        </p:txBody>
      </p:sp>
      <p:sp>
        <p:nvSpPr>
          <p:cNvPr id="94" name="Oval 21">
            <a:extLst>
              <a:ext uri="{FF2B5EF4-FFF2-40B4-BE49-F238E27FC236}">
                <a16:creationId xmlns:a16="http://schemas.microsoft.com/office/drawing/2014/main" id="{249ED989-EB0F-432E-98A2-8AD90B75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834" y="22014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716" rIns="13716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2.0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Production</a:t>
            </a:r>
          </a:p>
        </p:txBody>
      </p:sp>
      <p:sp>
        <p:nvSpPr>
          <p:cNvPr id="95" name="Oval 22">
            <a:extLst>
              <a:ext uri="{FF2B5EF4-FFF2-40B4-BE49-F238E27FC236}">
                <a16:creationId xmlns:a16="http://schemas.microsoft.com/office/drawing/2014/main" id="{96BDDF3A-3780-43FC-984E-E788BEC7B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834" y="12298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716" rIns="13716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1.0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Sale</a:t>
            </a:r>
          </a:p>
        </p:txBody>
      </p:sp>
      <p:sp>
        <p:nvSpPr>
          <p:cNvPr id="96" name="Oval 23">
            <a:extLst>
              <a:ext uri="{FF2B5EF4-FFF2-40B4-BE49-F238E27FC236}">
                <a16:creationId xmlns:a16="http://schemas.microsoft.com/office/drawing/2014/main" id="{076940CF-A97B-481F-B639-3A36221F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834" y="323011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3.0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Procure-ment</a:t>
            </a:r>
          </a:p>
        </p:txBody>
      </p:sp>
      <p:sp>
        <p:nvSpPr>
          <p:cNvPr id="97" name="Oval 24">
            <a:extLst>
              <a:ext uri="{FF2B5EF4-FFF2-40B4-BE49-F238E27FC236}">
                <a16:creationId xmlns:a16="http://schemas.microsoft.com/office/drawing/2014/main" id="{6CADBAD1-9312-464C-A200-577C88862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978" y="43159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4.0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Payroll</a:t>
            </a:r>
          </a:p>
        </p:txBody>
      </p:sp>
      <p:sp>
        <p:nvSpPr>
          <p:cNvPr id="98" name="Oval 25">
            <a:extLst>
              <a:ext uri="{FF2B5EF4-FFF2-40B4-BE49-F238E27FC236}">
                <a16:creationId xmlns:a16="http://schemas.microsoft.com/office/drawing/2014/main" id="{C632344C-D941-496A-8EF8-DFD306ABE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634" y="2830068"/>
            <a:ext cx="685800" cy="685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3716" rIns="13716" anchor="ctr"/>
          <a:lstStyle/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u="sng" dirty="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0.0</a:t>
            </a:r>
          </a:p>
          <a:p>
            <a:pPr algn="ctr" defTabSz="6858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dirty="0">
                <a:solidFill>
                  <a:prstClr val="black"/>
                </a:solidFill>
                <a:latin typeface="Arial Narrow" panose="020B0606020202030204" pitchFamily="34" charset="0"/>
                <a:ea typeface="+mn-ea"/>
                <a:cs typeface="+mn-cs"/>
              </a:rPr>
              <a:t>Lemonade System</a:t>
            </a:r>
          </a:p>
        </p:txBody>
      </p:sp>
      <p:cxnSp>
        <p:nvCxnSpPr>
          <p:cNvPr id="99" name="AutoShape 27">
            <a:extLst>
              <a:ext uri="{FF2B5EF4-FFF2-40B4-BE49-F238E27FC236}">
                <a16:creationId xmlns:a16="http://schemas.microsoft.com/office/drawing/2014/main" id="{8F342F2B-426E-4D94-8D59-CFD40953505D}"/>
              </a:ext>
            </a:extLst>
          </p:cNvPr>
          <p:cNvCxnSpPr>
            <a:cxnSpLocks noChangeShapeType="1"/>
            <a:stCxn id="98" idx="0"/>
            <a:endCxn id="95" idx="2"/>
          </p:cNvCxnSpPr>
          <p:nvPr/>
        </p:nvCxnSpPr>
        <p:spPr bwMode="auto">
          <a:xfrm flipV="1">
            <a:off x="1986535" y="1572769"/>
            <a:ext cx="1250156" cy="12501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AutoShape 28">
            <a:extLst>
              <a:ext uri="{FF2B5EF4-FFF2-40B4-BE49-F238E27FC236}">
                <a16:creationId xmlns:a16="http://schemas.microsoft.com/office/drawing/2014/main" id="{69BF2FEE-1025-463B-A155-725EE6465AE2}"/>
              </a:ext>
            </a:extLst>
          </p:cNvPr>
          <p:cNvCxnSpPr>
            <a:cxnSpLocks noChangeShapeType="1"/>
            <a:stCxn id="98" idx="7"/>
            <a:endCxn id="94" idx="2"/>
          </p:cNvCxnSpPr>
          <p:nvPr/>
        </p:nvCxnSpPr>
        <p:spPr bwMode="auto">
          <a:xfrm flipV="1">
            <a:off x="2229422" y="2544318"/>
            <a:ext cx="1007269" cy="3786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AutoShape 29">
            <a:extLst>
              <a:ext uri="{FF2B5EF4-FFF2-40B4-BE49-F238E27FC236}">
                <a16:creationId xmlns:a16="http://schemas.microsoft.com/office/drawing/2014/main" id="{A6E4FAB3-56B3-4F7C-86A0-FF780A93465B}"/>
              </a:ext>
            </a:extLst>
          </p:cNvPr>
          <p:cNvCxnSpPr>
            <a:cxnSpLocks noChangeShapeType="1"/>
            <a:stCxn id="98" idx="5"/>
            <a:endCxn id="96" idx="2"/>
          </p:cNvCxnSpPr>
          <p:nvPr/>
        </p:nvCxnSpPr>
        <p:spPr bwMode="auto">
          <a:xfrm>
            <a:off x="2229422" y="3423000"/>
            <a:ext cx="1007269" cy="15001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AutoShape 30">
            <a:extLst>
              <a:ext uri="{FF2B5EF4-FFF2-40B4-BE49-F238E27FC236}">
                <a16:creationId xmlns:a16="http://schemas.microsoft.com/office/drawing/2014/main" id="{E651D9AE-910A-40CE-8886-8F5A621A4B7E}"/>
              </a:ext>
            </a:extLst>
          </p:cNvPr>
          <p:cNvCxnSpPr>
            <a:cxnSpLocks noChangeShapeType="1"/>
            <a:stCxn id="98" idx="4"/>
            <a:endCxn id="97" idx="2"/>
          </p:cNvCxnSpPr>
          <p:nvPr/>
        </p:nvCxnSpPr>
        <p:spPr bwMode="auto">
          <a:xfrm>
            <a:off x="1986534" y="3523012"/>
            <a:ext cx="1257300" cy="11358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AutoShape 31">
            <a:extLst>
              <a:ext uri="{FF2B5EF4-FFF2-40B4-BE49-F238E27FC236}">
                <a16:creationId xmlns:a16="http://schemas.microsoft.com/office/drawing/2014/main" id="{7F314EAE-21CF-4E42-A9D7-97CE8F319F2D}"/>
              </a:ext>
            </a:extLst>
          </p:cNvPr>
          <p:cNvCxnSpPr>
            <a:cxnSpLocks noChangeShapeType="1"/>
            <a:stCxn id="95" idx="4"/>
            <a:endCxn id="92" idx="4"/>
          </p:cNvCxnSpPr>
          <p:nvPr/>
        </p:nvCxnSpPr>
        <p:spPr bwMode="auto">
          <a:xfrm rot="16200000" flipH="1">
            <a:off x="4386239" y="1123307"/>
            <a:ext cx="1191" cy="16002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AutoShape 32">
            <a:extLst>
              <a:ext uri="{FF2B5EF4-FFF2-40B4-BE49-F238E27FC236}">
                <a16:creationId xmlns:a16="http://schemas.microsoft.com/office/drawing/2014/main" id="{4F12520C-2333-4720-87B2-6117E7AF4108}"/>
              </a:ext>
            </a:extLst>
          </p:cNvPr>
          <p:cNvCxnSpPr>
            <a:cxnSpLocks noChangeShapeType="1"/>
            <a:stCxn id="95" idx="4"/>
            <a:endCxn id="93" idx="4"/>
          </p:cNvCxnSpPr>
          <p:nvPr/>
        </p:nvCxnSpPr>
        <p:spPr bwMode="auto">
          <a:xfrm rot="16200000" flipH="1">
            <a:off x="4786289" y="723257"/>
            <a:ext cx="1191" cy="24003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AutoShape 33">
            <a:extLst>
              <a:ext uri="{FF2B5EF4-FFF2-40B4-BE49-F238E27FC236}">
                <a16:creationId xmlns:a16="http://schemas.microsoft.com/office/drawing/2014/main" id="{42228D03-314A-4056-9601-247C2ACFB3BB}"/>
              </a:ext>
            </a:extLst>
          </p:cNvPr>
          <p:cNvCxnSpPr>
            <a:cxnSpLocks noChangeShapeType="1"/>
            <a:stCxn id="94" idx="4"/>
            <a:endCxn id="89" idx="4"/>
          </p:cNvCxnSpPr>
          <p:nvPr/>
        </p:nvCxnSpPr>
        <p:spPr bwMode="auto">
          <a:xfrm rot="16200000" flipH="1">
            <a:off x="4386239" y="2094857"/>
            <a:ext cx="1191" cy="16002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AutoShape 34">
            <a:extLst>
              <a:ext uri="{FF2B5EF4-FFF2-40B4-BE49-F238E27FC236}">
                <a16:creationId xmlns:a16="http://schemas.microsoft.com/office/drawing/2014/main" id="{EB730CB5-A37A-45E0-AB43-A15C1D7EF2D1}"/>
              </a:ext>
            </a:extLst>
          </p:cNvPr>
          <p:cNvCxnSpPr>
            <a:cxnSpLocks noChangeShapeType="1"/>
            <a:stCxn id="94" idx="4"/>
            <a:endCxn id="90" idx="4"/>
          </p:cNvCxnSpPr>
          <p:nvPr/>
        </p:nvCxnSpPr>
        <p:spPr bwMode="auto">
          <a:xfrm rot="16200000" flipH="1">
            <a:off x="4786289" y="1694807"/>
            <a:ext cx="1191" cy="24003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AutoShape 35">
            <a:extLst>
              <a:ext uri="{FF2B5EF4-FFF2-40B4-BE49-F238E27FC236}">
                <a16:creationId xmlns:a16="http://schemas.microsoft.com/office/drawing/2014/main" id="{7A4E2559-FC44-4DEF-ACE4-EFF7435102C4}"/>
              </a:ext>
            </a:extLst>
          </p:cNvPr>
          <p:cNvCxnSpPr>
            <a:cxnSpLocks noChangeShapeType="1"/>
            <a:stCxn id="94" idx="4"/>
            <a:endCxn id="91" idx="4"/>
          </p:cNvCxnSpPr>
          <p:nvPr/>
        </p:nvCxnSpPr>
        <p:spPr bwMode="auto">
          <a:xfrm rot="16200000" flipH="1">
            <a:off x="5186339" y="1294757"/>
            <a:ext cx="1191" cy="32004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AutoShape 36">
            <a:extLst>
              <a:ext uri="{FF2B5EF4-FFF2-40B4-BE49-F238E27FC236}">
                <a16:creationId xmlns:a16="http://schemas.microsoft.com/office/drawing/2014/main" id="{C02730FB-A005-480F-8902-031D8E2158DA}"/>
              </a:ext>
            </a:extLst>
          </p:cNvPr>
          <p:cNvCxnSpPr>
            <a:cxnSpLocks noChangeShapeType="1"/>
            <a:stCxn id="96" idx="4"/>
            <a:endCxn id="86" idx="4"/>
          </p:cNvCxnSpPr>
          <p:nvPr/>
        </p:nvCxnSpPr>
        <p:spPr bwMode="auto">
          <a:xfrm rot="16200000" flipH="1">
            <a:off x="4386239" y="3123557"/>
            <a:ext cx="1191" cy="16002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AutoShape 37">
            <a:extLst>
              <a:ext uri="{FF2B5EF4-FFF2-40B4-BE49-F238E27FC236}">
                <a16:creationId xmlns:a16="http://schemas.microsoft.com/office/drawing/2014/main" id="{75AE05A9-195F-41A0-813C-AC73008700B4}"/>
              </a:ext>
            </a:extLst>
          </p:cNvPr>
          <p:cNvCxnSpPr>
            <a:cxnSpLocks noChangeShapeType="1"/>
            <a:stCxn id="96" idx="4"/>
            <a:endCxn id="87" idx="4"/>
          </p:cNvCxnSpPr>
          <p:nvPr/>
        </p:nvCxnSpPr>
        <p:spPr bwMode="auto">
          <a:xfrm rot="16200000" flipH="1">
            <a:off x="4786289" y="2723507"/>
            <a:ext cx="1191" cy="24003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AutoShape 38">
            <a:extLst>
              <a:ext uri="{FF2B5EF4-FFF2-40B4-BE49-F238E27FC236}">
                <a16:creationId xmlns:a16="http://schemas.microsoft.com/office/drawing/2014/main" id="{5A6AD162-F8EC-4C42-9700-D16B77BFA6C9}"/>
              </a:ext>
            </a:extLst>
          </p:cNvPr>
          <p:cNvCxnSpPr>
            <a:cxnSpLocks noChangeShapeType="1"/>
            <a:stCxn id="96" idx="4"/>
            <a:endCxn id="88" idx="4"/>
          </p:cNvCxnSpPr>
          <p:nvPr/>
        </p:nvCxnSpPr>
        <p:spPr bwMode="auto">
          <a:xfrm rot="16200000" flipH="1">
            <a:off x="5186339" y="2323457"/>
            <a:ext cx="1191" cy="32004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AutoShape 39">
            <a:extLst>
              <a:ext uri="{FF2B5EF4-FFF2-40B4-BE49-F238E27FC236}">
                <a16:creationId xmlns:a16="http://schemas.microsoft.com/office/drawing/2014/main" id="{8CDB91C9-4352-4A61-933C-EB873A24DE32}"/>
              </a:ext>
            </a:extLst>
          </p:cNvPr>
          <p:cNvCxnSpPr>
            <a:cxnSpLocks noChangeShapeType="1"/>
            <a:stCxn id="97" idx="4"/>
            <a:endCxn id="83" idx="4"/>
          </p:cNvCxnSpPr>
          <p:nvPr/>
        </p:nvCxnSpPr>
        <p:spPr bwMode="auto">
          <a:xfrm rot="16200000" flipH="1">
            <a:off x="4389811" y="4212979"/>
            <a:ext cx="1191" cy="1593056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AutoShape 40">
            <a:extLst>
              <a:ext uri="{FF2B5EF4-FFF2-40B4-BE49-F238E27FC236}">
                <a16:creationId xmlns:a16="http://schemas.microsoft.com/office/drawing/2014/main" id="{76B3244A-CAA0-4A96-926D-0DAF86546910}"/>
              </a:ext>
            </a:extLst>
          </p:cNvPr>
          <p:cNvCxnSpPr>
            <a:cxnSpLocks noChangeShapeType="1"/>
            <a:stCxn id="97" idx="4"/>
            <a:endCxn id="84" idx="4"/>
          </p:cNvCxnSpPr>
          <p:nvPr/>
        </p:nvCxnSpPr>
        <p:spPr bwMode="auto">
          <a:xfrm rot="16200000" flipH="1">
            <a:off x="4789861" y="3812929"/>
            <a:ext cx="1191" cy="2393156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" name="AutoShape 41">
            <a:extLst>
              <a:ext uri="{FF2B5EF4-FFF2-40B4-BE49-F238E27FC236}">
                <a16:creationId xmlns:a16="http://schemas.microsoft.com/office/drawing/2014/main" id="{1BD10B22-7568-4F32-A9D5-C492412CF63A}"/>
              </a:ext>
            </a:extLst>
          </p:cNvPr>
          <p:cNvCxnSpPr>
            <a:cxnSpLocks noChangeShapeType="1"/>
            <a:stCxn id="97" idx="4"/>
            <a:endCxn id="85" idx="4"/>
          </p:cNvCxnSpPr>
          <p:nvPr/>
        </p:nvCxnSpPr>
        <p:spPr bwMode="auto">
          <a:xfrm rot="16200000" flipH="1">
            <a:off x="5189911" y="3412879"/>
            <a:ext cx="1191" cy="3193256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4" name="Text Box 42">
            <a:extLst>
              <a:ext uri="{FF2B5EF4-FFF2-40B4-BE49-F238E27FC236}">
                <a16:creationId xmlns:a16="http://schemas.microsoft.com/office/drawing/2014/main" id="{CA60468E-2718-422C-8D05-C3108CB12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284" y="5173218"/>
            <a:ext cx="25717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1800">
                <a:solidFill>
                  <a:srgbClr val="ED7D31"/>
                </a:solidFill>
                <a:latin typeface="Calibri" panose="020F0502020204030204"/>
                <a:ea typeface="+mn-ea"/>
                <a:cs typeface="+mn-cs"/>
              </a:rPr>
              <a:t>Level 0</a:t>
            </a:r>
          </a:p>
        </p:txBody>
      </p:sp>
      <p:sp>
        <p:nvSpPr>
          <p:cNvPr id="115" name="Text Box 43">
            <a:extLst>
              <a:ext uri="{FF2B5EF4-FFF2-40B4-BE49-F238E27FC236}">
                <a16:creationId xmlns:a16="http://schemas.microsoft.com/office/drawing/2014/main" id="{A65E6A18-6909-4D36-A4BB-EEBEE5F6E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034" y="5173218"/>
            <a:ext cx="2743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6858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1800" dirty="0">
                <a:solidFill>
                  <a:srgbClr val="ED7D31"/>
                </a:solidFill>
                <a:latin typeface="Calibri" panose="020F0502020204030204"/>
                <a:ea typeface="+mn-ea"/>
                <a:cs typeface="+mn-cs"/>
              </a:rPr>
              <a:t>Level 1</a:t>
            </a:r>
          </a:p>
        </p:txBody>
      </p:sp>
      <p:sp>
        <p:nvSpPr>
          <p:cNvPr id="116" name="Text Box 44">
            <a:extLst>
              <a:ext uri="{FF2B5EF4-FFF2-40B4-BE49-F238E27FC236}">
                <a16:creationId xmlns:a16="http://schemas.microsoft.com/office/drawing/2014/main" id="{FE15FFB3-489A-4BD3-9CDD-F09720C91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534" y="5173218"/>
            <a:ext cx="228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1800" dirty="0">
                <a:solidFill>
                  <a:srgbClr val="ED7D31"/>
                </a:solidFill>
                <a:latin typeface="Calibri" panose="020F0502020204030204"/>
                <a:ea typeface="+mn-ea"/>
                <a:cs typeface="+mn-cs"/>
              </a:rPr>
              <a:t>Context Level</a:t>
            </a:r>
          </a:p>
        </p:txBody>
      </p:sp>
      <p:sp>
        <p:nvSpPr>
          <p:cNvPr id="117" name="Line 45">
            <a:extLst>
              <a:ext uri="{FF2B5EF4-FFF2-40B4-BE49-F238E27FC236}">
                <a16:creationId xmlns:a16="http://schemas.microsoft.com/office/drawing/2014/main" id="{E6C928C7-ADBB-4CEB-8FC1-3A466B107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0934" y="1058418"/>
            <a:ext cx="0" cy="440055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Line 46">
            <a:extLst>
              <a:ext uri="{FF2B5EF4-FFF2-40B4-BE49-F238E27FC236}">
                <a16:creationId xmlns:a16="http://schemas.microsoft.com/office/drawing/2014/main" id="{AFF36CDF-4A3E-42BB-9AA4-62C6B7F16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3984" y="1058418"/>
            <a:ext cx="0" cy="440055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Text Box 44">
            <a:extLst>
              <a:ext uri="{FF2B5EF4-FFF2-40B4-BE49-F238E27FC236}">
                <a16:creationId xmlns:a16="http://schemas.microsoft.com/office/drawing/2014/main" id="{42D05F70-BA95-4102-BF55-23EC6C01C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69" y="1158296"/>
            <a:ext cx="22860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6858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700" b="1" dirty="0">
                <a:solidFill>
                  <a:srgbClr val="FF0000"/>
                </a:solidFill>
                <a:latin typeface="Calibri Light" panose="020F0302020204030204"/>
                <a:ea typeface="+mn-ea"/>
                <a:cs typeface="+mn-cs"/>
              </a:rPr>
              <a:t>Process Decomposition</a:t>
            </a:r>
          </a:p>
        </p:txBody>
      </p:sp>
    </p:spTree>
    <p:extLst>
      <p:ext uri="{BB962C8B-B14F-4D97-AF65-F5344CB8AC3E}">
        <p14:creationId xmlns:p14="http://schemas.microsoft.com/office/powerpoint/2010/main" val="835273038"/>
      </p:ext>
    </p:extLst>
  </p:cSld>
  <p:clrMapOvr>
    <a:masterClrMapping/>
  </p:clrMapOvr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4440</TotalTime>
  <Words>2552</Words>
  <Application>Microsoft Office PowerPoint</Application>
  <PresentationFormat>Ekran Gösterisi (4:3)</PresentationFormat>
  <Paragraphs>504</Paragraphs>
  <Slides>59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59</vt:i4>
      </vt:variant>
    </vt:vector>
  </HeadingPairs>
  <TitlesOfParts>
    <vt:vector size="68" baseType="lpstr">
      <vt:lpstr>Arial</vt:lpstr>
      <vt:lpstr>Arial Narrow</vt:lpstr>
      <vt:lpstr>Calibri</vt:lpstr>
      <vt:lpstr>Calibri Light</vt:lpstr>
      <vt:lpstr>Times New Roman</vt:lpstr>
      <vt:lpstr>Wingdings</vt:lpstr>
      <vt:lpstr>Zapf Dingbats</vt:lpstr>
      <vt:lpstr>SE10 slides</vt:lpstr>
      <vt:lpstr>Office Theme</vt:lpstr>
      <vt:lpstr>Functional and non-functional requirements</vt:lpstr>
      <vt:lpstr>Functional and non-functional requirements</vt:lpstr>
      <vt:lpstr>Functional requirements</vt:lpstr>
      <vt:lpstr>Non-functional requirements</vt:lpstr>
      <vt:lpstr>Types of nonfunctional requirement </vt:lpstr>
      <vt:lpstr>Non-functional requirements implementation</vt:lpstr>
      <vt:lpstr>Metrics for specifying nonfunctional requirements</vt:lpstr>
      <vt:lpstr>Requirements engineering processes</vt:lpstr>
      <vt:lpstr>Requirements engineering processes</vt:lpstr>
      <vt:lpstr>Requirements elicitation</vt:lpstr>
      <vt:lpstr>Requirements elicitation and analysis</vt:lpstr>
      <vt:lpstr>Requirements elicitation</vt:lpstr>
      <vt:lpstr>Problems of requirements elicitation</vt:lpstr>
      <vt:lpstr>The requirements elicitation and analysis process </vt:lpstr>
      <vt:lpstr>Process activities</vt:lpstr>
      <vt:lpstr>Requirements discovery</vt:lpstr>
      <vt:lpstr>Interviewing</vt:lpstr>
      <vt:lpstr>Stories and scenarios</vt:lpstr>
      <vt:lpstr>Requirements specification</vt:lpstr>
      <vt:lpstr>Requirements specification</vt:lpstr>
      <vt:lpstr>Guidelines for writing requirements</vt:lpstr>
      <vt:lpstr>Requirements validation</vt:lpstr>
      <vt:lpstr>Requirements validation</vt:lpstr>
      <vt:lpstr>Requirements checking</vt:lpstr>
      <vt:lpstr>Requirements validation techniques</vt:lpstr>
      <vt:lpstr>Requirements reviews</vt:lpstr>
      <vt:lpstr>Review checks</vt:lpstr>
      <vt:lpstr>Requirements management</vt:lpstr>
      <vt:lpstr>SE 321/SE 305 SOFTWARE SPECIFICATION AND DESIGN </vt:lpstr>
      <vt:lpstr>Context Diagram</vt:lpstr>
      <vt:lpstr>Context Diagram (cont’d)</vt:lpstr>
      <vt:lpstr>Vending Machine Example Assumption: There is no Revise Order Option</vt:lpstr>
      <vt:lpstr>ATM Example Assumption: ONLY Withdrawing Money (not transfer, checking balance, or other services….)</vt:lpstr>
      <vt:lpstr>Food Ordering System</vt:lpstr>
      <vt:lpstr>Food Order processing System</vt:lpstr>
      <vt:lpstr>University System Example</vt:lpstr>
      <vt:lpstr>Business and Tax System Example</vt:lpstr>
      <vt:lpstr>Context Diagram Example</vt:lpstr>
      <vt:lpstr>Context Diagram Example (cont’d)</vt:lpstr>
      <vt:lpstr>Example: City Complaint Handling System</vt:lpstr>
      <vt:lpstr>Example: City Complaint Handling System</vt:lpstr>
      <vt:lpstr>Data Flow Diagram</vt:lpstr>
      <vt:lpstr>Data Flow Diagram Components</vt:lpstr>
      <vt:lpstr>DeMarco and Yourdon Symbols</vt:lpstr>
      <vt:lpstr>Gane and Sarson Symbol vs DeMarco and Yourdon Symbol</vt:lpstr>
      <vt:lpstr>Relationship</vt:lpstr>
      <vt:lpstr>Context Diagram</vt:lpstr>
      <vt:lpstr>Context Diagram Example</vt:lpstr>
      <vt:lpstr>Level 0 DFD</vt:lpstr>
      <vt:lpstr>Level 0 DFD Example</vt:lpstr>
      <vt:lpstr>Level 1 DFD</vt:lpstr>
      <vt:lpstr>Level 1 DFD Example</vt:lpstr>
      <vt:lpstr>Lemonade System Example</vt:lpstr>
      <vt:lpstr>Lemonade System Example (cont’d)</vt:lpstr>
      <vt:lpstr>Lemonade System Example (cont’d)</vt:lpstr>
      <vt:lpstr>Lemonade System Example (cont’d)</vt:lpstr>
      <vt:lpstr>Lemonade System Example (cont’d)</vt:lpstr>
      <vt:lpstr>Lemonade System Example (cont’d)</vt:lpstr>
      <vt:lpstr>PowerPoint Sunusu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4</dc:title>
  <dc:creator>Ian Sommerville</dc:creator>
  <cp:lastModifiedBy>Hamza Çekirdek</cp:lastModifiedBy>
  <cp:revision>31</cp:revision>
  <cp:lastPrinted>2010-01-11T10:54:43Z</cp:lastPrinted>
  <dcterms:created xsi:type="dcterms:W3CDTF">2010-01-08T19:43:52Z</dcterms:created>
  <dcterms:modified xsi:type="dcterms:W3CDTF">2024-11-05T07:05:33Z</dcterms:modified>
</cp:coreProperties>
</file>